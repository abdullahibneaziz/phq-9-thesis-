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22"/>
  </p:notesMasterIdLst>
  <p:sldIdLst>
    <p:sldId id="256" r:id="rId2"/>
    <p:sldId id="262" r:id="rId3"/>
    <p:sldId id="25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73" r:id="rId12"/>
    <p:sldId id="285" r:id="rId13"/>
    <p:sldId id="286" r:id="rId14"/>
    <p:sldId id="287" r:id="rId15"/>
    <p:sldId id="288" r:id="rId16"/>
    <p:sldId id="289" r:id="rId17"/>
    <p:sldId id="290" r:id="rId18"/>
    <p:sldId id="274" r:id="rId19"/>
    <p:sldId id="276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53" autoAdjust="0"/>
    <p:restoredTop sz="94291" autoAdjust="0"/>
  </p:normalViewPr>
  <p:slideViewPr>
    <p:cSldViewPr>
      <p:cViewPr varScale="1">
        <p:scale>
          <a:sx n="111" d="100"/>
          <a:sy n="111" d="100"/>
        </p:scale>
        <p:origin x="166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lah Miraz" userId="35575cba-5de1-4f67-ab8c-da02e27336c8" providerId="ADAL" clId="{6B0D89D2-8753-44D4-A17F-959CBEBB250D}"/>
    <pc:docChg chg="modSld">
      <pc:chgData name="Abdullah Miraz" userId="35575cba-5de1-4f67-ab8c-da02e27336c8" providerId="ADAL" clId="{6B0D89D2-8753-44D4-A17F-959CBEBB250D}" dt="2025-06-30T15:44:15.575" v="14" actId="20577"/>
      <pc:docMkLst>
        <pc:docMk/>
      </pc:docMkLst>
      <pc:sldChg chg="modSp mod">
        <pc:chgData name="Abdullah Miraz" userId="35575cba-5de1-4f67-ab8c-da02e27336c8" providerId="ADAL" clId="{6B0D89D2-8753-44D4-A17F-959CBEBB250D}" dt="2025-06-30T15:44:07.606" v="12" actId="20577"/>
        <pc:sldMkLst>
          <pc:docMk/>
          <pc:sldMk cId="2189644401" sldId="281"/>
        </pc:sldMkLst>
        <pc:spChg chg="mod">
          <ac:chgData name="Abdullah Miraz" userId="35575cba-5de1-4f67-ab8c-da02e27336c8" providerId="ADAL" clId="{6B0D89D2-8753-44D4-A17F-959CBEBB250D}" dt="2025-06-30T15:44:07.606" v="12" actId="20577"/>
          <ac:spMkLst>
            <pc:docMk/>
            <pc:sldMk cId="2189644401" sldId="281"/>
            <ac:spMk id="12" creationId="{CCFEF692-DDE6-F801-8190-0156BCA4C6B5}"/>
          </ac:spMkLst>
        </pc:spChg>
      </pc:sldChg>
      <pc:sldChg chg="modSp mod">
        <pc:chgData name="Abdullah Miraz" userId="35575cba-5de1-4f67-ab8c-da02e27336c8" providerId="ADAL" clId="{6B0D89D2-8753-44D4-A17F-959CBEBB250D}" dt="2025-06-30T15:43:58.338" v="11" actId="20577"/>
        <pc:sldMkLst>
          <pc:docMk/>
          <pc:sldMk cId="3182411313" sldId="282"/>
        </pc:sldMkLst>
        <pc:spChg chg="mod">
          <ac:chgData name="Abdullah Miraz" userId="35575cba-5de1-4f67-ab8c-da02e27336c8" providerId="ADAL" clId="{6B0D89D2-8753-44D4-A17F-959CBEBB250D}" dt="2025-06-30T15:43:58.338" v="11" actId="20577"/>
          <ac:spMkLst>
            <pc:docMk/>
            <pc:sldMk cId="3182411313" sldId="282"/>
            <ac:spMk id="12" creationId="{A6948F41-C9E8-BBE1-6211-3035D2B17C41}"/>
          </ac:spMkLst>
        </pc:spChg>
      </pc:sldChg>
      <pc:sldChg chg="modSp mod">
        <pc:chgData name="Abdullah Miraz" userId="35575cba-5de1-4f67-ab8c-da02e27336c8" providerId="ADAL" clId="{6B0D89D2-8753-44D4-A17F-959CBEBB250D}" dt="2025-06-30T15:44:11.544" v="13" actId="20577"/>
        <pc:sldMkLst>
          <pc:docMk/>
          <pc:sldMk cId="227865099" sldId="283"/>
        </pc:sldMkLst>
        <pc:spChg chg="mod">
          <ac:chgData name="Abdullah Miraz" userId="35575cba-5de1-4f67-ab8c-da02e27336c8" providerId="ADAL" clId="{6B0D89D2-8753-44D4-A17F-959CBEBB250D}" dt="2025-06-30T15:44:11.544" v="13" actId="20577"/>
          <ac:spMkLst>
            <pc:docMk/>
            <pc:sldMk cId="227865099" sldId="283"/>
            <ac:spMk id="12" creationId="{E28ED0BF-AA8E-45EA-1E3A-E599DEB85056}"/>
          </ac:spMkLst>
        </pc:spChg>
      </pc:sldChg>
      <pc:sldChg chg="modSp mod">
        <pc:chgData name="Abdullah Miraz" userId="35575cba-5de1-4f67-ab8c-da02e27336c8" providerId="ADAL" clId="{6B0D89D2-8753-44D4-A17F-959CBEBB250D}" dt="2025-06-30T15:44:15.575" v="14" actId="20577"/>
        <pc:sldMkLst>
          <pc:docMk/>
          <pc:sldMk cId="2197013896" sldId="284"/>
        </pc:sldMkLst>
        <pc:spChg chg="mod">
          <ac:chgData name="Abdullah Miraz" userId="35575cba-5de1-4f67-ab8c-da02e27336c8" providerId="ADAL" clId="{6B0D89D2-8753-44D4-A17F-959CBEBB250D}" dt="2025-06-30T15:44:15.575" v="14" actId="20577"/>
          <ac:spMkLst>
            <pc:docMk/>
            <pc:sldMk cId="2197013896" sldId="284"/>
            <ac:spMk id="12" creationId="{200D036B-8C32-8672-4B92-CD71822C061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A85DC-018B-4F1D-9BCC-BA10FDA96A23}" type="datetimeFigureOut">
              <a:rPr lang="en-US" smtClean="0"/>
              <a:pPr/>
              <a:t>6/30/2025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B5672-ADE6-4DA2-A2C7-8376839EE4B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4B66D-A5CE-42A1-9C05-46FA3E94CC3F}" type="datetime2">
              <a:rPr lang="en-US" smtClean="0"/>
              <a:pPr/>
              <a:t>Monday, June 30,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3516B-352B-4793-B7C4-6C06A4F4800D}" type="datetime2">
              <a:rPr lang="en-US" smtClean="0"/>
              <a:pPr/>
              <a:t>Monday, June 30,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6EF37-A94C-4534-A2B1-CC2022CDC647}" type="datetime2">
              <a:rPr lang="en-US" smtClean="0"/>
              <a:pPr/>
              <a:t>Monday, June 30,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423B4-94AB-4286-8811-583146B7BAD5}" type="datetime2">
              <a:rPr lang="en-US" smtClean="0"/>
              <a:pPr/>
              <a:t>Monday, June 30,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A0EDA-E9E5-48B8-905D-8AC44EBBC9FD}" type="datetime2">
              <a:rPr lang="en-US" smtClean="0"/>
              <a:pPr/>
              <a:t>Monday, June 30,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50185-9017-4836-A92F-BB05BFBC62F1}" type="datetime2">
              <a:rPr lang="en-US" smtClean="0"/>
              <a:pPr/>
              <a:t>Monday, June 30,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0F54A-25BC-482D-8D56-0755565FF8F0}" type="datetime2">
              <a:rPr lang="en-US" smtClean="0"/>
              <a:pPr/>
              <a:t>Monday, June 30,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C85E-12E0-4562-8829-CBECA72C9894}" type="datetime2">
              <a:rPr lang="en-US" smtClean="0"/>
              <a:pPr/>
              <a:t>Monday, June 30,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00E6C-C80E-4CD4-82EA-A20BF1A29307}" type="datetime2">
              <a:rPr lang="en-US" smtClean="0"/>
              <a:pPr/>
              <a:t>Monday, June 30,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28D4A-0135-440A-97ED-D0FA805DB767}" type="datetime2">
              <a:rPr lang="en-US" smtClean="0"/>
              <a:pPr/>
              <a:t>Monday, June 30,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3F86-EE01-4EA4-B63B-715E83139625}" type="datetime2">
              <a:rPr lang="en-US" smtClean="0"/>
              <a:pPr/>
              <a:t>Monday, June 30,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F5DE8-46B7-43C6-92B6-780BCD9A2D43}" type="datetime2">
              <a:rPr lang="en-US" smtClean="0"/>
              <a:pPr/>
              <a:t>Monday, June 30,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7CCF0-62DE-494F-9F4A-E5843DC29DE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doi.org/10.1109/is57118.2022.10019625" TargetMode="External"/><Relationship Id="rId7" Type="http://schemas.openxmlformats.org/officeDocument/2006/relationships/image" Target="../media/image1.png"/><Relationship Id="rId2" Type="http://schemas.openxmlformats.org/officeDocument/2006/relationships/hyperlink" Target="https://doi.org/10.1016/j.jad.2025.01.15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177/20552076221114204" TargetMode="External"/><Relationship Id="rId5" Type="http://schemas.openxmlformats.org/officeDocument/2006/relationships/hyperlink" Target="https://doi.org/10.3390/ijerph18073339" TargetMode="External"/><Relationship Id="rId4" Type="http://schemas.openxmlformats.org/officeDocument/2006/relationships/hyperlink" Target="https://doi.org/10.2147/ndt.s339412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838200" y="2667000"/>
            <a:ext cx="7620000" cy="1828800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Prepared for:  </a:t>
            </a:r>
            <a:br>
              <a:rPr lang="en-US"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Thesis Proposal Defense Committee</a:t>
            </a:r>
            <a:b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sz="11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Department of  Computer Science and Engineering</a:t>
            </a:r>
            <a:br>
              <a:rPr lang="en-US" dirty="0"/>
            </a:br>
            <a:endParaRPr lang="en-US" dirty="0"/>
          </a:p>
        </p:txBody>
      </p:sp>
      <p:sp>
        <p:nvSpPr>
          <p:cNvPr id="10" name="WordArt 5"/>
          <p:cNvSpPr>
            <a:spLocks noChangeArrowheads="1" noChangeShapeType="1" noTextEdit="1"/>
          </p:cNvSpPr>
          <p:nvPr/>
        </p:nvSpPr>
        <p:spPr bwMode="auto">
          <a:xfrm>
            <a:off x="733343" y="321276"/>
            <a:ext cx="7683137" cy="26778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1200" b="1" kern="10" spc="24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latin typeface="Arial Narrow"/>
              </a:rPr>
              <a:t>IUBAT–INTERNATIONAL </a:t>
            </a:r>
            <a:r>
              <a:rPr lang="en-US" sz="1200" b="1" kern="10" spc="24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008000"/>
                </a:solidFill>
                <a:effectLst/>
                <a:latin typeface="Arial Narrow"/>
              </a:rPr>
              <a:t>UNIVERSITY OF BUSINESS AGRICULTURE AND 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4200" y="713601"/>
            <a:ext cx="29633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i="1" dirty="0">
                <a:solidFill>
                  <a:srgbClr val="008000"/>
                </a:solidFill>
                <a:latin typeface="Arial" pitchFamily="34" charset="0"/>
                <a:ea typeface="Times New Roman" pitchFamily="18" charset="0"/>
                <a:cs typeface="Times New Roman" pitchFamily="18" charset="0"/>
              </a:rPr>
              <a:t>Founded 1991 by Md. Alimullah Miyan</a:t>
            </a:r>
            <a:endParaRPr lang="en-US" sz="11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152400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/>
        </p:nvSpPr>
        <p:spPr>
          <a:xfrm>
            <a:off x="685800" y="1143000"/>
            <a:ext cx="7848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lang="en-US" sz="2400" dirty="0"/>
          </a:p>
        </p:txBody>
      </p:sp>
      <p:pic>
        <p:nvPicPr>
          <p:cNvPr id="15" name="Picture 14" descr="Logo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733800"/>
            <a:ext cx="457200" cy="470535"/>
          </a:xfrm>
          <a:prstGeom prst="rect">
            <a:avLst/>
          </a:prstGeom>
          <a:noFill/>
        </p:spPr>
      </p:pic>
      <p:sp>
        <p:nvSpPr>
          <p:cNvPr id="16" name="Rectangle 15"/>
          <p:cNvSpPr/>
          <p:nvPr/>
        </p:nvSpPr>
        <p:spPr>
          <a:xfrm>
            <a:off x="2819400" y="2419290"/>
            <a:ext cx="38395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u="sng" dirty="0">
                <a:latin typeface="Times New Roman" pitchFamily="18" charset="0"/>
                <a:cs typeface="Times New Roman" pitchFamily="18" charset="0"/>
              </a:rPr>
              <a:t>Course Code: CSC 488 (Thesis) </a:t>
            </a:r>
            <a:endParaRPr lang="en-US" sz="2000" dirty="0"/>
          </a:p>
        </p:txBody>
      </p:sp>
      <p:sp>
        <p:nvSpPr>
          <p:cNvPr id="17" name="Rectangle 16"/>
          <p:cNvSpPr/>
          <p:nvPr/>
        </p:nvSpPr>
        <p:spPr>
          <a:xfrm>
            <a:off x="152400" y="4800600"/>
            <a:ext cx="3505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Supervised by:</a:t>
            </a:r>
          </a:p>
          <a:p>
            <a:pPr algn="ctr">
              <a:spcAft>
                <a:spcPts val="600"/>
              </a:spcAft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Snaholata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Mondal</a:t>
            </a:r>
          </a:p>
          <a:p>
            <a:pPr algn="ctr"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Lecturer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67200" y="4800600"/>
            <a:ext cx="487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Prepared by: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MD Abdullah Ibne Aziz      ID: 22203246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Shahriar Ahmed                   ID: 22203202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19400" y="6324600"/>
            <a:ext cx="37307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Date of Presentation: 01/07/2025</a:t>
            </a:r>
            <a:endParaRPr lang="en-US" sz="2000" dirty="0"/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07921" y="228600"/>
            <a:ext cx="483679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7924800" cy="4873752"/>
          </a:xfrm>
        </p:spPr>
        <p:txBody>
          <a:bodyPr>
            <a:normAutofit/>
          </a:bodyPr>
          <a:lstStyle/>
          <a:p>
            <a:pPr>
              <a:spcBef>
                <a:spcPts val="700"/>
              </a:spcBef>
              <a:buChar char="❑"/>
              <a:defRPr sz="2400"/>
            </a:pPr>
            <a:r>
              <a:rPr lang="en-US" sz="2800" dirty="0"/>
              <a:t>Introduction</a:t>
            </a:r>
          </a:p>
          <a:p>
            <a:pPr>
              <a:spcBef>
                <a:spcPts val="700"/>
              </a:spcBef>
              <a:buChar char="❑"/>
              <a:defRPr sz="2400"/>
            </a:pPr>
            <a:r>
              <a:rPr lang="en-US" sz="2800" dirty="0"/>
              <a:t>Related Work</a:t>
            </a:r>
          </a:p>
          <a:p>
            <a:pPr>
              <a:spcBef>
                <a:spcPts val="700"/>
              </a:spcBef>
              <a:buChar char="❑"/>
              <a:defRPr sz="2400"/>
            </a:pPr>
            <a:r>
              <a:rPr lang="en-US" sz="2800" dirty="0"/>
              <a:t>Objectives</a:t>
            </a:r>
          </a:p>
          <a:p>
            <a:pPr>
              <a:spcBef>
                <a:spcPts val="700"/>
              </a:spcBef>
              <a:buChar char="❑"/>
              <a:defRPr sz="2400"/>
            </a:pPr>
            <a:r>
              <a:rPr lang="en-US" sz="2800" dirty="0"/>
              <a:t>Methodology: Traditional ML (PHQ-9 Dataset)</a:t>
            </a:r>
          </a:p>
          <a:p>
            <a:pPr>
              <a:spcBef>
                <a:spcPts val="700"/>
              </a:spcBef>
              <a:buChar char="❑"/>
              <a:defRPr sz="2400"/>
            </a:pPr>
            <a:r>
              <a:rPr lang="en-US" sz="2800" dirty="0"/>
              <a:t>Methodology: NLP (Facebook Dataset)</a:t>
            </a:r>
          </a:p>
          <a:p>
            <a:pPr>
              <a:spcBef>
                <a:spcPts val="700"/>
              </a:spcBef>
              <a:buChar char="❑"/>
              <a:defRPr sz="2400"/>
            </a:pPr>
            <a:r>
              <a:rPr lang="en-US" sz="2800" dirty="0"/>
              <a:t>Contributions</a:t>
            </a:r>
          </a:p>
          <a:p>
            <a:pPr>
              <a:spcBef>
                <a:spcPts val="700"/>
              </a:spcBef>
              <a:buChar char="❑"/>
              <a:defRPr sz="2400"/>
            </a:pPr>
            <a:r>
              <a:rPr lang="en-US" sz="2800" dirty="0"/>
              <a:t>Conclusion</a:t>
            </a:r>
          </a:p>
          <a:p>
            <a:pPr>
              <a:spcBef>
                <a:spcPts val="700"/>
              </a:spcBef>
              <a:buChar char="❑"/>
              <a:defRPr sz="2400"/>
            </a:pPr>
            <a:r>
              <a:rPr lang="en-US" sz="2800" dirty="0"/>
              <a:t>References</a:t>
            </a:r>
          </a:p>
          <a:p>
            <a:pPr>
              <a:buNone/>
            </a:pPr>
            <a:endParaRPr lang="en-US" sz="2800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CAABC7D-CF10-4FCE-B691-B41DF8B61C7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Introduction 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04800" y="838200"/>
            <a:ext cx="8534400" cy="2590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 algn="just">
              <a:buSzPct val="100000"/>
              <a:buChar char="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Mental health issues are widespread, affecting millions globally. Early detection is crucial for timely intervention.</a:t>
            </a:r>
            <a:endParaRPr lang="en-US" sz="2000" dirty="0">
              <a:latin typeface="Arial"/>
              <a:ea typeface="Arial"/>
              <a:cs typeface="Arial"/>
              <a:sym typeface="Arial"/>
            </a:endParaRPr>
          </a:p>
          <a:p>
            <a:pPr marL="342900" indent="-342900" algn="just">
              <a:buSzPct val="100000"/>
              <a:buChar char="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The PHQ-9 questionnaire is a popular self-report tool for assessing mental health, specifically depression.</a:t>
            </a:r>
          </a:p>
          <a:p>
            <a:pPr marL="342900" indent="-342900" algn="just">
              <a:buSzPct val="100000"/>
              <a:buChar char="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Social media platforms, like Facebook, offer rich insights into individuals' emotional states, making them a valuable resource for mental health analysis.</a:t>
            </a:r>
            <a:endParaRPr lang="en-US" sz="2000" dirty="0"/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0" y="6629400"/>
            <a:ext cx="883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lang="en-US" sz="1200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 descr="A diagram of a pho-9&#10;&#10;AI-generated content may be incorrect.">
            <a:extLst>
              <a:ext uri="{FF2B5EF4-FFF2-40B4-BE49-F238E27FC236}">
                <a16:creationId xmlns:a16="http://schemas.microsoft.com/office/drawing/2014/main" id="{A49A6682-0F5E-E446-8FB0-CBAE2F62F3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781" y="2971800"/>
            <a:ext cx="3902437" cy="26543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90D1B5-80EE-9774-AE81-BB761934B9A5}"/>
              </a:ext>
            </a:extLst>
          </p:cNvPr>
          <p:cNvSpPr txBox="1"/>
          <p:nvPr/>
        </p:nvSpPr>
        <p:spPr>
          <a:xfrm>
            <a:off x="2967967" y="5835135"/>
            <a:ext cx="357530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 Narrow"/>
              </a:rPr>
              <a:t>Figure: PHQ-9 Questionnaires Topic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3A106-2924-ADC9-0A74-9FEEFC13E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0C7EB-9606-9F55-A3E6-2FF96F499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33886090-D4EB-6711-ADD2-D5163A61FDB9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47AFDEBF-CD1C-81B2-0F35-C701D00D0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B364F8A-D7F3-ACE5-EE85-3F7F6517A7D7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Introduction (Cont.)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1F11AEF-1AB4-CD32-1868-4E42CB7413BB}"/>
              </a:ext>
            </a:extLst>
          </p:cNvPr>
          <p:cNvSpPr txBox="1">
            <a:spLocks/>
          </p:cNvSpPr>
          <p:nvPr/>
        </p:nvSpPr>
        <p:spPr>
          <a:xfrm>
            <a:off x="304800" y="1524000"/>
            <a:ext cx="8534400" cy="3962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80000"/>
              </a:lnSpc>
              <a:buBlip>
                <a:blip r:embed="rId3"/>
              </a:buBlip>
              <a:defRPr sz="2700">
                <a:solidFill>
                  <a:srgbClr val="002060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Motivation</a:t>
            </a:r>
          </a:p>
          <a:p>
            <a:pPr marL="742950" lvl="1" indent="-285750" algn="just">
              <a:lnSpc>
                <a:spcPct val="96000"/>
              </a:lnSpc>
              <a:spcBef>
                <a:spcPts val="500"/>
              </a:spcBef>
              <a:buChar char="➢"/>
              <a:defRPr sz="2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disorders, especially depression, affect millions worldwide. Early detection is crucial for timely intervention.</a:t>
            </a:r>
          </a:p>
          <a:p>
            <a:pPr marL="742950" lvl="1" indent="-285750" algn="just">
              <a:lnSpc>
                <a:spcPct val="96000"/>
              </a:lnSpc>
              <a:spcBef>
                <a:spcPts val="500"/>
              </a:spcBef>
              <a:buChar char="➢"/>
              <a:defRPr sz="2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PHQ-9 is a widely used tool for assessing depression.</a:t>
            </a:r>
          </a:p>
          <a:p>
            <a:pPr marL="742950" lvl="1" indent="-285750" algn="just">
              <a:lnSpc>
                <a:spcPct val="96000"/>
              </a:lnSpc>
              <a:spcBef>
                <a:spcPts val="500"/>
              </a:spcBef>
              <a:buChar char="➢"/>
              <a:defRPr sz="2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platforms like Facebook offer rich, real-time data that can provide additional insights into an individual's mental health.</a:t>
            </a:r>
          </a:p>
          <a:p>
            <a:pPr marL="742950" lvl="1" indent="-285750" algn="just">
              <a:lnSpc>
                <a:spcPct val="96000"/>
              </a:lnSpc>
              <a:spcBef>
                <a:spcPts val="500"/>
              </a:spcBef>
              <a:buChar char="➢"/>
              <a:defRPr sz="2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Bangla Facebook posts may help detect mental health conditions beyond traditional survey-based methods.</a:t>
            </a:r>
          </a:p>
          <a:p>
            <a:pPr marL="742950" lvl="1" indent="-285750" algn="just">
              <a:lnSpc>
                <a:spcPct val="96000"/>
              </a:lnSpc>
              <a:spcBef>
                <a:spcPts val="500"/>
              </a:spcBef>
              <a:buChar char="➢"/>
              <a:defRPr sz="2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PHQ-9 survey data with social media analysis allows for a more complete approach to mental health detection.</a:t>
            </a:r>
          </a:p>
          <a:p>
            <a:pPr marL="742950" lvl="1" indent="-285750" algn="just">
              <a:lnSpc>
                <a:spcPct val="96000"/>
              </a:lnSpc>
              <a:spcBef>
                <a:spcPts val="500"/>
              </a:spcBef>
              <a:buChar char="➢"/>
              <a:defRPr sz="24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95B1EB77-5B5D-4331-7F8A-68DDD864B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FC1587A-ACB1-7837-A88B-A5F981349491}"/>
              </a:ext>
            </a:extLst>
          </p:cNvPr>
          <p:cNvSpPr txBox="1">
            <a:spLocks/>
          </p:cNvSpPr>
          <p:nvPr/>
        </p:nvSpPr>
        <p:spPr>
          <a:xfrm>
            <a:off x="0" y="6629400"/>
            <a:ext cx="883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75233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5DB4D-66FF-D5C1-F729-0255B95AE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25915-CD50-4D3D-863A-39920A860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0EC652C-CC26-A9D1-B664-D47F33BCC2DE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9250AD17-7065-B2FD-9BD1-F90D43919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63D13812-32FD-52C5-6D32-53A894DB8618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Introduction (Cont.)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B02F249-E433-5689-A5D5-01B1A3E0435F}"/>
              </a:ext>
            </a:extLst>
          </p:cNvPr>
          <p:cNvSpPr txBox="1">
            <a:spLocks/>
          </p:cNvSpPr>
          <p:nvPr/>
        </p:nvSpPr>
        <p:spPr>
          <a:xfrm>
            <a:off x="304800" y="1524000"/>
            <a:ext cx="8534400" cy="3962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buBlip>
                <a:blip r:embed="rId3"/>
              </a:buBlip>
              <a:defRPr>
                <a:solidFill>
                  <a:srgbClr val="002060"/>
                </a:solidFill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Challenges</a:t>
            </a:r>
          </a:p>
          <a:p>
            <a:pPr marL="742950" lvl="1" indent="-285750" algn="just">
              <a:lnSpc>
                <a:spcPct val="120000"/>
              </a:lnSpc>
              <a:spcBef>
                <a:spcPts val="500"/>
              </a:spcBef>
              <a:buChar char="➢"/>
              <a:defRPr sz="2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Collecting user data and verifiable evidence is the most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challenging aspect of finding out about mental illness. </a:t>
            </a:r>
          </a:p>
          <a:p>
            <a:pPr marL="742950" lvl="1" indent="-285750" algn="just">
              <a:lnSpc>
                <a:spcPct val="120000"/>
              </a:lnSpc>
              <a:spcBef>
                <a:spcPts val="500"/>
              </a:spcBef>
              <a:buChar char="➢"/>
              <a:defRPr sz="2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 with noisy and incomplete data, especially in social media posts.</a:t>
            </a:r>
          </a:p>
          <a:p>
            <a:pPr marL="742950" lvl="1" indent="-285750" algn="just">
              <a:lnSpc>
                <a:spcPct val="120000"/>
              </a:lnSpc>
              <a:spcBef>
                <a:spcPts val="500"/>
              </a:spcBef>
              <a:buChar char="➢"/>
              <a:defRPr sz="2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Tuning BERT models for Bangla text, which requires substantial computational resources.</a:t>
            </a:r>
          </a:p>
          <a:p>
            <a:pPr marL="742950" lvl="1" indent="-285750" algn="just">
              <a:lnSpc>
                <a:spcPct val="120000"/>
              </a:lnSpc>
              <a:spcBef>
                <a:spcPts val="500"/>
              </a:spcBef>
              <a:buChar char="➢"/>
              <a:defRPr sz="24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explaining NLP model decisions compared to traditional ML models.</a:t>
            </a:r>
          </a:p>
          <a:p>
            <a:pPr marL="742950" lvl="1" indent="-285750" algn="just">
              <a:lnSpc>
                <a:spcPct val="96000"/>
              </a:lnSpc>
              <a:spcBef>
                <a:spcPts val="500"/>
              </a:spcBef>
              <a:buChar char="➢"/>
              <a:defRPr sz="240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286BCF7-4DBE-9B8F-29B0-0AE1E14EA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1239815-9FC1-384F-18E9-A1DACFC2C843}"/>
              </a:ext>
            </a:extLst>
          </p:cNvPr>
          <p:cNvSpPr txBox="1">
            <a:spLocks/>
          </p:cNvSpPr>
          <p:nvPr/>
        </p:nvSpPr>
        <p:spPr>
          <a:xfrm>
            <a:off x="0" y="6629400"/>
            <a:ext cx="883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27461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CEF1A-0CAF-AACD-AFBB-CB7104D55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77C60-3D99-0908-04D1-4A8339682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B2AA942-4CC9-A2DC-C865-D2EE3331ECEC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CC634562-A1CB-0A30-1445-D7BBFBF41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2C2CFA7-8709-D76E-9C27-5F91E9B675BF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Related Work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61AC24-F34F-5774-8EA0-1145F706D7B6}"/>
              </a:ext>
            </a:extLst>
          </p:cNvPr>
          <p:cNvSpPr txBox="1">
            <a:spLocks/>
          </p:cNvSpPr>
          <p:nvPr/>
        </p:nvSpPr>
        <p:spPr>
          <a:xfrm>
            <a:off x="304800" y="1219200"/>
            <a:ext cx="4953000" cy="3962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 algn="just">
              <a:buSzPct val="100000"/>
              <a:buChar char="➢"/>
              <a:def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b="1" dirty="0">
                <a:sym typeface="Times New Roman"/>
              </a:rPr>
              <a:t>A machine learning model using clinical notes to estimate PHQ-9 symptom severity scores in depressed patients</a:t>
            </a:r>
            <a:r>
              <a:rPr lang="en-US" sz="2000" dirty="0">
                <a:sym typeface="Times New Roman"/>
              </a:rPr>
              <a:t> (Alves et al., 2025) [1]</a:t>
            </a:r>
            <a:endParaRPr lang="en-US" dirty="0"/>
          </a:p>
          <a:p>
            <a:pPr marL="342900" indent="-342900" algn="just"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Three Models have been developed – 1) An unstructured model, 2) A structured model, and 3) An ensemble model that combined the first two.</a:t>
            </a:r>
          </a:p>
          <a:p>
            <a:pPr marL="342900" indent="-342900" algn="just"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Showed ML models can effectively estimate the PHQ-9 scores for major depressive disorder (MDD) patients.</a:t>
            </a:r>
          </a:p>
          <a:p>
            <a:pPr algn="just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     Limitation: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342900" indent="-342900" algn="just"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The PHQ-9 is designed to be patient-reported, whereas this model estimates PHQ-9 scores using clinicians’ notes.</a:t>
            </a:r>
            <a:endParaRPr lang="en-US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88EF063A-95E9-83D6-D8C9-1B1D7A84D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A5C7DC-7F7C-F016-EE23-5492C11E9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59" y="1074220"/>
            <a:ext cx="2167129" cy="5240914"/>
          </a:xfrm>
          <a:prstGeom prst="rect">
            <a:avLst/>
          </a:prstGeom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0ECE25F-1605-CC10-83DF-CE5D1BAA5B5C}"/>
              </a:ext>
            </a:extLst>
          </p:cNvPr>
          <p:cNvSpPr txBox="1">
            <a:spLocks/>
          </p:cNvSpPr>
          <p:nvPr/>
        </p:nvSpPr>
        <p:spPr>
          <a:xfrm>
            <a:off x="0" y="6629400"/>
            <a:ext cx="883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31673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2EA24-E395-CC60-2367-E614698CC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23C3E-B322-8345-982E-EF0B31F7F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B04CE38-BFA5-3704-0310-5CB5A2C411AA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63A1F0E6-2020-9F22-CBBD-170E5B018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CFEF692-DDE6-F801-8190-0156BCA4C6B5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Related Work (Cont.)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2FCDAF3-3B44-5D51-39D5-397768881BE4}"/>
              </a:ext>
            </a:extLst>
          </p:cNvPr>
          <p:cNvSpPr txBox="1">
            <a:spLocks/>
          </p:cNvSpPr>
          <p:nvPr/>
        </p:nvSpPr>
        <p:spPr>
          <a:xfrm>
            <a:off x="304800" y="1219200"/>
            <a:ext cx="4495800" cy="3962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 algn="just">
              <a:buSzPct val="100000"/>
              <a:buChar char="➢"/>
              <a:def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b="1" dirty="0">
                <a:sym typeface="Times New Roman"/>
              </a:rPr>
              <a:t>Machine Learning Combined with PHQ-9 for Analyzing Depression in Bangladeshi Metropolitan Areas</a:t>
            </a:r>
            <a:r>
              <a:rPr lang="en-US" sz="2000" dirty="0">
                <a:sym typeface="Times New Roman"/>
              </a:rPr>
              <a:t> (Dey et al.) [2]</a:t>
            </a:r>
            <a:endParaRPr lang="en-US" dirty="0"/>
          </a:p>
          <a:p>
            <a:pPr marL="342900" indent="-342900" algn="just"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This system has used BNLTK (Bangla Natural Language Processing Toolkit)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342900" indent="-342900" algn="just"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Showed the viability of determining the level of depression in Bangladeshi Metropolitan areas using NLP techniques and ML algorithms.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algn="just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     Limitation: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342900" indent="-342900" algn="just"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Challenges arose from the subjective nature of social media expressions, as posts might falsely suggest depression or vice versa.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100A887F-989C-BE46-2886-FFFB4A0E4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C9F77E-5595-9428-9139-ADF41F707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2340864"/>
            <a:ext cx="4038600" cy="270662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F4144-62E6-CD15-48B5-AB90E5CFAB52}"/>
              </a:ext>
            </a:extLst>
          </p:cNvPr>
          <p:cNvSpPr txBox="1">
            <a:spLocks/>
          </p:cNvSpPr>
          <p:nvPr/>
        </p:nvSpPr>
        <p:spPr>
          <a:xfrm>
            <a:off x="0" y="6629400"/>
            <a:ext cx="883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89644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93739-09E7-7E59-FF59-717F84283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E3706-CA84-985E-2B73-165FB1D84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3D33B95-B653-3CAD-3664-B59FB71E7DEA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731396F1-66B2-2FFD-64AF-9BCD26FC6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6948F41-C9E8-BBE1-6211-3035D2B17C41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Related Work (Cont.)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08FC930-C2B4-B6E5-3318-A4EDAFF6755B}"/>
              </a:ext>
            </a:extLst>
          </p:cNvPr>
          <p:cNvSpPr txBox="1">
            <a:spLocks/>
          </p:cNvSpPr>
          <p:nvPr/>
        </p:nvSpPr>
        <p:spPr>
          <a:xfrm>
            <a:off x="228600" y="1295400"/>
            <a:ext cx="4953000" cy="3962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 algn="just">
              <a:buSzPct val="100000"/>
              <a:buChar char="➢"/>
              <a:def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b="1" dirty="0">
                <a:sym typeface="Times New Roman"/>
              </a:rPr>
              <a:t>Screening for Depression in Mobile Devices Using Patient Health Questionnaire-9 (PHQ-9) Data: A Diagnostic Meta-Analysis via Machine Learning Models (Kim &amp; Lee, 2021) [3]</a:t>
            </a:r>
            <a:endParaRPr lang="en-US" dirty="0"/>
          </a:p>
          <a:p>
            <a:pPr marL="342900" indent="-342900" algn="just"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The system used various machine learning algorithms like Random Forest, Support Vector Machine, Artificial Neural Network (ANN), and 10-fold cross validation</a:t>
            </a:r>
          </a:p>
          <a:p>
            <a:pPr marL="342900" indent="-342900" algn="just"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Showed through meta-analysis, PHQ-9 depression screening on mobile devices is an effective tool</a:t>
            </a:r>
          </a:p>
          <a:p>
            <a:pPr algn="just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     Limitation: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342900" indent="-342900" algn="just"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The reference standards for diagnosing depression are narrow within the mobile health field.</a:t>
            </a:r>
            <a:endParaRPr lang="en-US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2CBD98E7-1F91-0111-3ADC-9EE93CB3D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3E7482-B6A2-A1E6-B597-7F8AA6D8C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171045"/>
            <a:ext cx="2855131" cy="4963642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35187CF-368C-D593-4E09-118E40DF51E7}"/>
              </a:ext>
            </a:extLst>
          </p:cNvPr>
          <p:cNvSpPr txBox="1">
            <a:spLocks/>
          </p:cNvSpPr>
          <p:nvPr/>
        </p:nvSpPr>
        <p:spPr>
          <a:xfrm>
            <a:off x="0" y="6629400"/>
            <a:ext cx="883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82411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9C77C-C677-CE2D-469C-16C1C9C3B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9A31-D659-2B3E-7F6E-4648A9324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4B92E14-EEA4-20A4-5FFC-EF1FEC50874C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6579E3FD-6802-A093-B095-AEDC22983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28ED0BF-AA8E-45EA-1E3A-E599DEB85056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Related Work (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Cont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.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6E85FBF-FA7C-C410-E8E0-153D1DC2D17A}"/>
              </a:ext>
            </a:extLst>
          </p:cNvPr>
          <p:cNvSpPr txBox="1">
            <a:spLocks/>
          </p:cNvSpPr>
          <p:nvPr/>
        </p:nvSpPr>
        <p:spPr>
          <a:xfrm>
            <a:off x="342900" y="1295400"/>
            <a:ext cx="8458200" cy="3962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 algn="just">
              <a:buSzPct val="100000"/>
              <a:buChar char="➢"/>
              <a:def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b="1" dirty="0">
                <a:sym typeface="Times New Roman"/>
              </a:rPr>
              <a:t>Which PHQ-9 Items Can Effectively Screen for Suicide? Machine Learning Approaches (Kim et al., 2021) [4]</a:t>
            </a:r>
            <a:endParaRPr lang="en-US" dirty="0"/>
          </a:p>
          <a:p>
            <a:pPr marL="342900" indent="-342900" algn="just"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The system used K-Nearest Neighbors (KNN), Linear Discriminant Analysis (LDA), and Random Forest Classification.</a:t>
            </a:r>
          </a:p>
          <a:p>
            <a:pPr marL="342900" indent="-342900" algn="just"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Evaluated suicidal ideation by applying ML algorithms.</a:t>
            </a:r>
          </a:p>
          <a:p>
            <a:pPr marL="342900" indent="-342900" algn="just"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Showed that ML algorithms can reliably and accurately screen individuals for suicidal ideation when applied to PHQ-9</a:t>
            </a:r>
          </a:p>
          <a:p>
            <a:pPr algn="just">
              <a:buSzPct val="100000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Methodology:</a:t>
            </a: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Used Patient Health Questionnaire-9 (PHQ-9) and the Mini-International Neuropsychiatric Interview (MINI) suicidality module to identify suicidal ideation.</a:t>
            </a: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Machine learning (ML) algorithms, specifically K-nearest neighbors (KNN), Linear Discriminant Analysis (LDA), and Random Forest, were applied.</a:t>
            </a:r>
            <a:endParaRPr lang="en-US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just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Limitation: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342900" indent="-342900" algn="just"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000" dirty="0">
                <a:sym typeface="Times New Roman"/>
              </a:rPr>
              <a:t>The study did not consider the effect of depression as a potential confounding variable.</a:t>
            </a:r>
            <a:endParaRPr lang="en-US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493177E8-5858-697F-52C6-99893E60E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A3886BA-6D00-CE7A-67FB-A5BF5D774B8B}"/>
              </a:ext>
            </a:extLst>
          </p:cNvPr>
          <p:cNvSpPr txBox="1">
            <a:spLocks/>
          </p:cNvSpPr>
          <p:nvPr/>
        </p:nvSpPr>
        <p:spPr>
          <a:xfrm>
            <a:off x="0" y="6629400"/>
            <a:ext cx="883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7865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062C9-A757-ABC4-A59E-E78C5EC18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07AE0-38D1-E3D3-4480-8F11FF994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1856"/>
            <a:ext cx="7924800" cy="457201"/>
          </a:xfrm>
        </p:spPr>
        <p:txBody>
          <a:bodyPr>
            <a:noAutofit/>
          </a:bodyPr>
          <a:lstStyle/>
          <a:p>
            <a:pPr algn="ctr"/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                     </a:t>
            </a: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br>
              <a:rPr lang="en-US" sz="3200" b="1" dirty="0">
                <a:solidFill>
                  <a:schemeClr val="tx1"/>
                </a:solidFill>
              </a:rPr>
            </a:b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A1AF508-BB92-77DE-72D2-25E5D33098CA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C8CD2F30-ED51-3AC7-13D1-4607DFDDA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00D036B-8C32-8672-4B92-CD71822C061C}"/>
              </a:ext>
            </a:extLst>
          </p:cNvPr>
          <p:cNvSpPr txBox="1">
            <a:spLocks/>
          </p:cNvSpPr>
          <p:nvPr/>
        </p:nvSpPr>
        <p:spPr>
          <a:xfrm>
            <a:off x="356616" y="171856"/>
            <a:ext cx="804672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Related Work </a:t>
            </a:r>
            <a:r>
              <a:rPr lang="en-US" sz="3200" b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(Cont.)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2B8772E-F2D2-5EDE-93D6-CCD74D5B4069}"/>
              </a:ext>
            </a:extLst>
          </p:cNvPr>
          <p:cNvSpPr txBox="1">
            <a:spLocks/>
          </p:cNvSpPr>
          <p:nvPr/>
        </p:nvSpPr>
        <p:spPr>
          <a:xfrm>
            <a:off x="228600" y="1120789"/>
            <a:ext cx="4800600" cy="3962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 algn="just">
              <a:buSzPct val="100000"/>
              <a:buChar char="➢"/>
              <a:def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Analysis of depression in social media texts through the Patient Health Questionnaire-9 and natural language processing (Kim et al., 2022) [5]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addition of PHQ-9 scores substantially increased the average number of scores per patient per year by 2.8 times. </a:t>
            </a:r>
          </a:p>
          <a:p>
            <a:pPr marL="342900" indent="-342900" algn="just"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Showed the possibility of determining users depressing levels solely from their social media textual data. </a:t>
            </a:r>
          </a:p>
          <a:p>
            <a:pPr algn="just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Limitation:</a:t>
            </a:r>
            <a:endParaRPr lang="en-US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342900" indent="-342900" algn="just"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The most significant limitation was the small dataset.</a:t>
            </a:r>
          </a:p>
          <a:p>
            <a:pPr marL="342900" indent="-342900" algn="just">
              <a:buSzPct val="100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The proposed model is limited to a binary classification.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6DC0B224-F065-CA53-A2D4-1CDE082B1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8B1A30-7D05-27FB-4F25-E71A88D1E0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8021" y="1956720"/>
            <a:ext cx="3884757" cy="3598148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75631D9-339F-7960-70CB-CAF039116C29}"/>
              </a:ext>
            </a:extLst>
          </p:cNvPr>
          <p:cNvSpPr txBox="1">
            <a:spLocks/>
          </p:cNvSpPr>
          <p:nvPr/>
        </p:nvSpPr>
        <p:spPr>
          <a:xfrm>
            <a:off x="0" y="6629400"/>
            <a:ext cx="883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97013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638800"/>
          </a:xfrm>
        </p:spPr>
        <p:txBody>
          <a:bodyPr>
            <a:noAutofit/>
          </a:bodyPr>
          <a:lstStyle/>
          <a:p>
            <a:pPr algn="just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dirty="0"/>
          </a:p>
          <a:p>
            <a:pPr algn="just">
              <a:buSzPct val="100000"/>
              <a:buChar char="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>
                <a:sym typeface="Times New Roman"/>
              </a:rPr>
              <a:t>To collect the dataset consisting of PHQ-9 survey responses from university students and Facebook posts in Bangla.</a:t>
            </a:r>
          </a:p>
          <a:p>
            <a:pPr algn="just">
              <a:buSzPct val="100000"/>
              <a:buChar char="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>
                <a:sym typeface="Times New Roman"/>
              </a:rPr>
              <a:t>To apply traditional machine learning models on the PHQ-9 survey data to predict mental health status.</a:t>
            </a:r>
          </a:p>
          <a:p>
            <a:pPr marL="342900" lvl="1" indent="-342900" algn="just">
              <a:buSzPct val="100000"/>
              <a:buChar char="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>
                <a:sym typeface="Times New Roman"/>
              </a:rPr>
              <a:t>To utilize NLP techniques, specifically Bangla BERT, to analyze sentiment and emotions from Facebook posts for predicting mental health status.</a:t>
            </a:r>
          </a:p>
          <a:p>
            <a:pPr marL="342900" lvl="1" indent="-342900" algn="just">
              <a:buSzPct val="100000"/>
              <a:buChar char="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>
                <a:sym typeface="Times New Roman"/>
              </a:rPr>
              <a:t>To identify patterns and correlations between mental health status and social media sentiment to enhance prediction accuracy.</a:t>
            </a:r>
            <a:br>
              <a:rPr lang="en-US" dirty="0"/>
            </a:br>
            <a:endParaRPr lang="en-US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D5957-93BB-A9F2-A795-545CA22FE802}"/>
              </a:ext>
            </a:extLst>
          </p:cNvPr>
          <p:cNvSpPr txBox="1">
            <a:spLocks/>
          </p:cNvSpPr>
          <p:nvPr/>
        </p:nvSpPr>
        <p:spPr>
          <a:xfrm>
            <a:off x="0" y="6629400"/>
            <a:ext cx="883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B6637-31C0-CD6D-D24A-93E04D530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61F0F-F2E2-AA89-8A77-E15866BA1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r>
              <a:rPr lang="en-US" sz="2800" b="1" dirty="0">
                <a:cs typeface="Times New Roman" panose="02020603050405020304" pitchFamily="18" charset="0"/>
              </a:rPr>
              <a:t>Methodology: Traditional ML (PHQ-9 Dataset)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A34CB-6BAF-6C8D-6408-4EBF205FC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121920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are collected through 400 university students.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Responses are categorized into five levels: Minimal, Mild, Moderate, Moderately Severe, and Severe.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3B9449E-6FF9-EAF5-8315-123D43AA642C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AF68EE27-AF90-76E8-94BB-7D8E5917D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8B7B80E-3B94-AB50-6FF2-F13464A52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1005B0-328A-8C39-FAD0-9A7FD4140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273968"/>
            <a:ext cx="8046720" cy="31261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B49F376-A26A-FD00-EC3F-5782C2DEACA0}"/>
              </a:ext>
            </a:extLst>
          </p:cNvPr>
          <p:cNvSpPr txBox="1">
            <a:spLocks/>
          </p:cNvSpPr>
          <p:nvPr/>
        </p:nvSpPr>
        <p:spPr>
          <a:xfrm>
            <a:off x="0" y="6629400"/>
            <a:ext cx="883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27774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D124A-0551-9C1A-2FA3-F08D24D1C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B3BB5-1216-EFDB-6638-7BFABF4C8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r>
              <a:rPr lang="en-US" sz="2400" b="1" dirty="0">
                <a:cs typeface="Times New Roman" panose="02020603050405020304" pitchFamily="18" charset="0"/>
              </a:rPr>
              <a:t>Methodology: Traditional ML (PHQ-9 Dataset) (Contd.)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EB7019A-45C9-1E17-4E5E-50F50F1A2E5F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5B23B14A-3522-10E7-66AD-A1B2FE94C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1C1CDDA4-E33C-8E80-8E43-A14EFA653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AEE33D2-E70F-78DB-F8CE-0BA2F491E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A3494077-E938-B1EB-09BB-49C09D36AE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341" y="1161723"/>
            <a:ext cx="8348472" cy="49764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58BD47D1-0B73-E9C1-C8D2-DD292BBA14C7}"/>
              </a:ext>
            </a:extLst>
          </p:cNvPr>
          <p:cNvSpPr txBox="1">
            <a:spLocks/>
          </p:cNvSpPr>
          <p:nvPr/>
        </p:nvSpPr>
        <p:spPr>
          <a:xfrm>
            <a:off x="0" y="6629400"/>
            <a:ext cx="883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6410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AF911-B891-CC63-BB82-F56429559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94CB1-BF17-6ECF-A5AC-22E53EA5F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r>
              <a:rPr lang="en-US" sz="2800" b="1" dirty="0">
                <a:cs typeface="Times New Roman" panose="02020603050405020304" pitchFamily="18" charset="0"/>
              </a:rPr>
              <a:t>Methodology: NLP (Facebook Dataset)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F9281-8DAF-BE79-6D38-E8984121B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1219200"/>
          </a:xfrm>
        </p:spPr>
        <p:txBody>
          <a:bodyPr>
            <a:noAutofit/>
          </a:bodyPr>
          <a:lstStyle/>
          <a:p>
            <a:r>
              <a:rPr lang="en-US" sz="2000" dirty="0"/>
              <a:t>Facebook statuses are being collected in Bangla language.</a:t>
            </a:r>
          </a:p>
          <a:p>
            <a:r>
              <a:rPr lang="en-US" sz="2000" dirty="0"/>
              <a:t>Posts are analyzed for sentiment and emotion to predict the mental health status.</a:t>
            </a:r>
          </a:p>
          <a:p>
            <a:r>
              <a:rPr lang="en-US" sz="2000" dirty="0"/>
              <a:t>Statuses are being evaluated into five categories – Minimal, Mild, Moderate, Moderately Severe, Severe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C9C3BF0-CA56-9116-6671-83666C85BC88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42F65810-0B5F-254E-A69C-428B9FF4C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FF5CD842-673E-1C37-15DD-1979FF306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8A7F9A-376C-85A9-4372-33AB02801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290" y="3048000"/>
            <a:ext cx="8033419" cy="23436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EEE74AB5-6A97-F5E5-1F3D-A658D9457C3B}"/>
              </a:ext>
            </a:extLst>
          </p:cNvPr>
          <p:cNvSpPr txBox="1">
            <a:spLocks/>
          </p:cNvSpPr>
          <p:nvPr/>
        </p:nvSpPr>
        <p:spPr>
          <a:xfrm>
            <a:off x="0" y="6629400"/>
            <a:ext cx="883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37791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143F6-6E66-0E46-E363-0DB0DAD68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00584-C181-05A7-A15C-FE0EB9FC6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r>
              <a:rPr lang="en-US" sz="2400" b="1" dirty="0">
                <a:cs typeface="Times New Roman" panose="02020603050405020304" pitchFamily="18" charset="0"/>
              </a:rPr>
              <a:t>Methodology: NLP (Facebook Dataset) (Contd.)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716A4C3-959C-19E5-6C37-1CF5A6AAF6B2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968E5B13-4714-AFC3-62DE-5C66ABE14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F8E357D0-F7D0-97FF-864A-936D188BB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35D7B1-0389-1818-F78D-47745D9E4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A diagram of a software flow&#10;&#10;AI-generated content may be incorrect.">
            <a:extLst>
              <a:ext uri="{FF2B5EF4-FFF2-40B4-BE49-F238E27FC236}">
                <a16:creationId xmlns:a16="http://schemas.microsoft.com/office/drawing/2014/main" id="{85F36A30-A344-A1A9-DF65-A4451D2681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63" y="1673050"/>
            <a:ext cx="8520874" cy="43802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163A6-2E75-4C56-A4DC-FDF84947ED5F}"/>
              </a:ext>
            </a:extLst>
          </p:cNvPr>
          <p:cNvSpPr txBox="1">
            <a:spLocks/>
          </p:cNvSpPr>
          <p:nvPr/>
        </p:nvSpPr>
        <p:spPr>
          <a:xfrm>
            <a:off x="0" y="6629400"/>
            <a:ext cx="883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54953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BD208-9EE8-633A-8C3B-56FCD0AA8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1C753-F803-7F18-F436-44091AAE7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C2DFF-807F-0D18-97EC-A82BA8C6F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3429000"/>
          </a:xfrm>
        </p:spPr>
        <p:txBody>
          <a:bodyPr>
            <a:noAutofit/>
          </a:bodyPr>
          <a:lstStyle/>
          <a:p>
            <a:pPr marL="285750" indent="-285750">
              <a:buSzPct val="100000"/>
              <a:buChar char="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dirty="0"/>
          </a:p>
          <a:p>
            <a:pPr marL="285750" indent="-285750" algn="just">
              <a:buSzPct val="100000"/>
              <a:buChar char="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Implementation of a combined approach for mental health detection using both structured and unstructured data.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285750" indent="-285750" algn="just">
              <a:buSzPct val="100000"/>
              <a:buChar char="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Comparative analysis of traditional ML models and advanced NLP techniques (Bangla BERT) in detecting mental health status.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285750" indent="-285750" algn="just">
              <a:buSzPct val="100000"/>
              <a:buChar char="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Insights into using social media data for mental health analysis, particularly in the Bangla language.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  <a:endParaRPr lang="en-US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B5F4A6A-7B2F-AD89-FB45-EF5C2D1D630C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C81B2615-D9F6-094C-9BA3-896C3A0959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EB4D24DA-08F5-65AB-0922-B200A6B34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22A85-7EF4-9962-BEF7-05ED84E66128}"/>
              </a:ext>
            </a:extLst>
          </p:cNvPr>
          <p:cNvSpPr txBox="1">
            <a:spLocks/>
          </p:cNvSpPr>
          <p:nvPr/>
        </p:nvSpPr>
        <p:spPr>
          <a:xfrm>
            <a:off x="0" y="6629400"/>
            <a:ext cx="883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75586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6A1CC-2889-3830-A1CC-6AE44D9E6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B1D6B-8D9D-F5A8-4A6B-747F96DDD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723F4-DCA2-1A20-AE96-FFEF1CAA5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3429000"/>
          </a:xfrm>
        </p:spPr>
        <p:txBody>
          <a:bodyPr>
            <a:noAutofit/>
          </a:bodyPr>
          <a:lstStyle/>
          <a:p>
            <a:pPr marL="285750" indent="-285750">
              <a:buSzPct val="100000"/>
              <a:buChar char="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dirty="0"/>
          </a:p>
          <a:p>
            <a:pPr marL="285750" indent="-285750" algn="just">
              <a:buSzPct val="100000"/>
              <a:buChar char="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The research aims to combine traditional survey-based analysis with advanced NLP techniques to improve the accuracy and efficiency of mental health detection.</a:t>
            </a:r>
          </a:p>
          <a:p>
            <a:pPr marL="285750" indent="-285750" algn="just">
              <a:buSzPct val="100000"/>
              <a:buChar char="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dirty="0"/>
              <a:t>The comparative study will highlight the strengths and weaknesses of both approaches.</a:t>
            </a:r>
            <a:endParaRPr lang="en-US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7F1348D-F12C-1C98-7C2E-D1109B6398CF}"/>
              </a:ext>
            </a:extLst>
          </p:cNvPr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E62A50AB-C78B-50B9-8A46-C73C6905C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AD0CE72B-D408-2A43-44BC-CDCC789E0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6D1C7-F77A-4364-2A2C-A06350FEFE28}"/>
              </a:ext>
            </a:extLst>
          </p:cNvPr>
          <p:cNvSpPr txBox="1">
            <a:spLocks/>
          </p:cNvSpPr>
          <p:nvPr/>
        </p:nvSpPr>
        <p:spPr>
          <a:xfrm>
            <a:off x="0" y="6629400"/>
            <a:ext cx="883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A Comparative Study of Mental Health Detection Using PHQ-9 and Social Media Analysis with Traditional ML and NLP Techniques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83048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9248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4572000"/>
          </a:xfrm>
        </p:spPr>
        <p:txBody>
          <a:bodyPr>
            <a:normAutofit fontScale="92500" lnSpcReduction="10000"/>
          </a:bodyPr>
          <a:lstStyle/>
          <a:p>
            <a:pPr indent="-274320" algn="just">
              <a:buNone/>
            </a:pPr>
            <a:endParaRPr lang="en-US" sz="1800" dirty="0">
              <a:cs typeface="Times New Roman" panose="02020603050405020304" pitchFamily="18" charset="0"/>
            </a:endParaRPr>
          </a:p>
          <a:p>
            <a:pPr indent="-274320" algn="just">
              <a:buNone/>
            </a:pPr>
            <a:r>
              <a:rPr lang="en-US" sz="1800" b="0" i="0" dirty="0">
                <a:effectLst/>
                <a:cs typeface="Times New Roman" panose="02020603050405020304" pitchFamily="18" charset="0"/>
              </a:rPr>
              <a:t>Alves, P., Marci, C.D., Cohen-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Stavi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C.J., Whelan, K.M. and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Boussios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C., 2025. A machine learning model using clinical notes to estimate PHQ-9 symptom severity scores in depressed patients. Journal of Affective Disorders, 376, pp.216-224. </a:t>
            </a:r>
            <a:r>
              <a:rPr lang="en-US" sz="1800" b="0" i="0" dirty="0">
                <a:effectLst/>
                <a:cs typeface="Times New Roman" panose="02020603050405020304" pitchFamily="18" charset="0"/>
                <a:hlinkClick r:id="rId2"/>
              </a:rPr>
              <a:t>https://doi.org/10.1016/j.jad.2025.01.152</a:t>
            </a:r>
            <a:endParaRPr lang="en-US" sz="1800" b="0" i="0" dirty="0">
              <a:effectLst/>
              <a:cs typeface="Times New Roman" panose="02020603050405020304" pitchFamily="18" charset="0"/>
            </a:endParaRPr>
          </a:p>
          <a:p>
            <a:pPr indent="-274320" algn="just">
              <a:buNone/>
            </a:pPr>
            <a:r>
              <a:rPr lang="en-US" sz="1800" b="0" i="0" dirty="0">
                <a:effectLst/>
                <a:cs typeface="Times New Roman" panose="02020603050405020304" pitchFamily="18" charset="0"/>
              </a:rPr>
              <a:t>Dey, S., </a:t>
            </a:r>
            <a:r>
              <a:rPr lang="en-US" sz="1800" b="0" i="0" dirty="0" err="1">
                <a:effectLst/>
                <a:cs typeface="Times New Roman" panose="02020603050405020304" pitchFamily="18" charset="0"/>
              </a:rPr>
              <a:t>Nawshin</a:t>
            </a:r>
            <a:r>
              <a:rPr lang="en-US" sz="1800" b="0" i="0" dirty="0">
                <a:effectLst/>
                <a:cs typeface="Times New Roman" panose="02020603050405020304" pitchFamily="18" charset="0"/>
              </a:rPr>
              <a:t>, A.T., Hossain, A. and Rahman, R.M., 2022. Machine learning combined with PHQ-9 for analyzing depression in Bangladeshi metropolitan areas. 2022 IEEE 11th International Conference on Intelligent Systems (IS), pp.1-8. </a:t>
            </a:r>
            <a:r>
              <a:rPr lang="en-US" sz="1800" b="0" i="0" dirty="0">
                <a:effectLst/>
                <a:cs typeface="Times New Roman" panose="02020603050405020304" pitchFamily="18" charset="0"/>
                <a:hlinkClick r:id="rId3"/>
              </a:rPr>
              <a:t>https://doi.org/10.1109/is57118.2022.10019625</a:t>
            </a:r>
            <a:endParaRPr lang="en-US" sz="1800" b="0" i="0" dirty="0">
              <a:effectLst/>
              <a:cs typeface="Times New Roman" panose="02020603050405020304" pitchFamily="18" charset="0"/>
            </a:endParaRPr>
          </a:p>
          <a:p>
            <a:pPr indent="-274320" algn="just">
              <a:buNone/>
            </a:pPr>
            <a:r>
              <a:rPr lang="en-US" sz="1800" b="0" i="0" dirty="0">
                <a:effectLst/>
                <a:cs typeface="Times New Roman" panose="02020603050405020304" pitchFamily="18" charset="0"/>
              </a:rPr>
              <a:t>Kim, S. and Lee, K., 2021. Screening for depression in mobile devices using Patient Health Questionnaire-9 (PHQ-9) data: A diagnostic meta-analysis via machine learning methods. Neuropsychiatric Disease and Treatment, 17, pp.3415-3430. </a:t>
            </a:r>
            <a:r>
              <a:rPr lang="en-US" sz="1800" b="0" i="0" dirty="0">
                <a:effectLst/>
                <a:cs typeface="Times New Roman" panose="02020603050405020304" pitchFamily="18" charset="0"/>
                <a:hlinkClick r:id="rId4"/>
              </a:rPr>
              <a:t>https://doi.org/10.2147/ndt.s339412</a:t>
            </a:r>
            <a:endParaRPr lang="en-US" sz="1800" b="0" i="0" dirty="0">
              <a:effectLst/>
              <a:cs typeface="Times New Roman" panose="02020603050405020304" pitchFamily="18" charset="0"/>
            </a:endParaRPr>
          </a:p>
          <a:p>
            <a:pPr indent="-274320" algn="just">
              <a:buNone/>
            </a:pPr>
            <a:r>
              <a:rPr lang="en-US" sz="1800" b="0" i="0" dirty="0">
                <a:effectLst/>
                <a:cs typeface="Times New Roman" panose="02020603050405020304" pitchFamily="18" charset="0"/>
              </a:rPr>
              <a:t>Kim, S., Lee, H. and Lee, K., 2021. Which PHQ-9 items can effectively screen for suicide? Machine learning approaches. International Journal of Environmental Research and Public Health, 18(7), p.3339. </a:t>
            </a:r>
            <a:r>
              <a:rPr lang="en-US" sz="1800" b="0" i="0" dirty="0">
                <a:effectLst/>
                <a:cs typeface="Times New Roman" panose="02020603050405020304" pitchFamily="18" charset="0"/>
                <a:hlinkClick r:id="rId5"/>
              </a:rPr>
              <a:t>https://doi.org/10.3390/ijerph18073339</a:t>
            </a:r>
            <a:endParaRPr lang="en-US" sz="1800" b="0" i="0" dirty="0">
              <a:effectLst/>
              <a:cs typeface="Times New Roman" panose="02020603050405020304" pitchFamily="18" charset="0"/>
            </a:endParaRPr>
          </a:p>
          <a:p>
            <a:pPr indent="-274320" algn="just">
              <a:buNone/>
            </a:pPr>
            <a:r>
              <a:rPr lang="en-US" sz="1800" b="0" i="0" dirty="0">
                <a:effectLst/>
                <a:cs typeface="Times New Roman" panose="02020603050405020304" pitchFamily="18" charset="0"/>
              </a:rPr>
              <a:t>Kim, N.H., Kim, J.M., Park, D.M., Ji, S.R. and Kim, J.W., 2022. Analysis of depression in social media texts through the Patient Health Questionnaire-9 and natural language processing. Digital Health, 8, p.205520762211142. </a:t>
            </a:r>
            <a:r>
              <a:rPr lang="en-US" sz="1800" b="0" i="0" dirty="0">
                <a:effectLst/>
                <a:cs typeface="Times New Roman" panose="02020603050405020304" pitchFamily="18" charset="0"/>
                <a:hlinkClick r:id="rId6"/>
              </a:rPr>
              <a:t>https://doi.org/10.1177/20552076221114204</a:t>
            </a:r>
            <a:endParaRPr lang="en-US" sz="1800" b="0" i="0" dirty="0">
              <a:effectLst/>
              <a:cs typeface="Times New Roman" panose="02020603050405020304" pitchFamily="18" charset="0"/>
            </a:endParaRPr>
          </a:p>
          <a:p>
            <a:pPr indent="-274320" algn="just">
              <a:buNone/>
            </a:pPr>
            <a:endParaRPr lang="en-US" sz="1800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7010400" y="6629400"/>
            <a:ext cx="21336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ckwell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itchFamily="18" charset="0"/>
              <a:ea typeface="+mn-ea"/>
              <a:cs typeface="+mn-cs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1486" y="87062"/>
            <a:ext cx="609600" cy="539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507921" y="103094"/>
            <a:ext cx="483679" cy="506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383B98D-F20F-4774-A68C-0357B8E78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362200"/>
            <a:ext cx="6425184" cy="91440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Forte" panose="03060902040502070203" pitchFamily="66" charset="0"/>
              </a:rPr>
              <a:t>Any Questions ?</a:t>
            </a:r>
          </a:p>
        </p:txBody>
      </p:sp>
    </p:spTree>
    <p:extLst>
      <p:ext uri="{BB962C8B-B14F-4D97-AF65-F5344CB8AC3E}">
        <p14:creationId xmlns:p14="http://schemas.microsoft.com/office/powerpoint/2010/main" val="972782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524000" y="2819400"/>
            <a:ext cx="6172200" cy="990600"/>
          </a:xfrm>
        </p:spPr>
        <p:txBody>
          <a:bodyPr>
            <a:noAutofit/>
          </a:bodyPr>
          <a:lstStyle/>
          <a:p>
            <a:pPr algn="ctr"/>
            <a:r>
              <a:rPr lang="en-US" sz="3600" b="0" dirty="0">
                <a:latin typeface="Forte" pitchFamily="66" charset="0"/>
              </a:rPr>
              <a:t>Thank</a:t>
            </a:r>
            <a:r>
              <a:rPr lang="en-US" sz="3600" b="0" dirty="0">
                <a:latin typeface="Rage Italic" pitchFamily="66" charset="0"/>
              </a:rPr>
              <a:t> </a:t>
            </a:r>
            <a:r>
              <a:rPr lang="en-US" sz="3600" b="0" dirty="0">
                <a:latin typeface="Forte" pitchFamily="66" charset="0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2083</TotalTime>
  <Words>1844</Words>
  <Application>Microsoft Office PowerPoint</Application>
  <PresentationFormat>On-screen Show (4:3)</PresentationFormat>
  <Paragraphs>147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Arial Narrow</vt:lpstr>
      <vt:lpstr>Calibri</vt:lpstr>
      <vt:lpstr>Forte</vt:lpstr>
      <vt:lpstr>Rage Italic</vt:lpstr>
      <vt:lpstr>Rockwell</vt:lpstr>
      <vt:lpstr>Times New Roman</vt:lpstr>
      <vt:lpstr>Office Theme</vt:lpstr>
      <vt:lpstr> Prepared for:   Thesis Proposal Defense Committee  Department of  Computer Science and Engineering </vt:lpstr>
      <vt:lpstr>Contents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                                    </vt:lpstr>
      <vt:lpstr>Objectives</vt:lpstr>
      <vt:lpstr>Methodology: Traditional ML (PHQ-9 Dataset)</vt:lpstr>
      <vt:lpstr>Methodology: Traditional ML (PHQ-9 Dataset) (Contd.)</vt:lpstr>
      <vt:lpstr>Methodology: NLP (Facebook Dataset)</vt:lpstr>
      <vt:lpstr>Methodology: NLP (Facebook Dataset) (Contd.)</vt:lpstr>
      <vt:lpstr>Contributions</vt:lpstr>
      <vt:lpstr>Conclusion</vt:lpstr>
      <vt:lpstr>References</vt:lpstr>
      <vt:lpstr>Any Questions ?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Abdullah Miraz</cp:lastModifiedBy>
  <cp:revision>200</cp:revision>
  <dcterms:created xsi:type="dcterms:W3CDTF">2021-05-07T10:10:49Z</dcterms:created>
  <dcterms:modified xsi:type="dcterms:W3CDTF">2025-06-30T15:44:15Z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2025-06-30T12:53:32Z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8b815924-aee4-4121-a24c-ea50d7e938c9</vt:lpwstr>
  </property>
  <property fmtid="{D5CDD505-2E9C-101B-9397-08002B2CF9AE}" pid="7" name="MSIP_Label_defa4170-0d19-0005-0004-bc88714345d2_ActionId">
    <vt:lpwstr>78ab067e-5ced-4bda-af84-60603215d62b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