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84" r:id="rId1"/>
  </p:sldMasterIdLst>
  <p:notesMasterIdLst>
    <p:notesMasterId r:id="rId91"/>
  </p:notesMasterIdLst>
  <p:sldIdLst>
    <p:sldId id="256" r:id="rId2"/>
    <p:sldId id="262" r:id="rId3"/>
    <p:sldId id="257" r:id="rId4"/>
    <p:sldId id="286" r:id="rId5"/>
    <p:sldId id="287" r:id="rId6"/>
    <p:sldId id="288" r:id="rId7"/>
    <p:sldId id="289" r:id="rId8"/>
    <p:sldId id="290" r:id="rId9"/>
    <p:sldId id="291" r:id="rId10"/>
    <p:sldId id="296" r:id="rId11"/>
    <p:sldId id="292" r:id="rId12"/>
    <p:sldId id="293" r:id="rId13"/>
    <p:sldId id="294" r:id="rId14"/>
    <p:sldId id="295" r:id="rId15"/>
    <p:sldId id="297" r:id="rId16"/>
    <p:sldId id="285" r:id="rId17"/>
    <p:sldId id="299" r:id="rId18"/>
    <p:sldId id="298" r:id="rId19"/>
    <p:sldId id="368" r:id="rId20"/>
    <p:sldId id="369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8" r:id="rId37"/>
    <p:sldId id="317" r:id="rId38"/>
    <p:sldId id="316" r:id="rId39"/>
    <p:sldId id="300" r:id="rId40"/>
    <p:sldId id="319" r:id="rId41"/>
    <p:sldId id="274" r:id="rId42"/>
    <p:sldId id="283" r:id="rId43"/>
    <p:sldId id="275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2" r:id="rId56"/>
    <p:sldId id="333" r:id="rId57"/>
    <p:sldId id="339" r:id="rId58"/>
    <p:sldId id="335" r:id="rId59"/>
    <p:sldId id="337" r:id="rId60"/>
    <p:sldId id="336" r:id="rId61"/>
    <p:sldId id="341" r:id="rId62"/>
    <p:sldId id="338" r:id="rId63"/>
    <p:sldId id="334" r:id="rId64"/>
    <p:sldId id="342" r:id="rId65"/>
    <p:sldId id="349" r:id="rId66"/>
    <p:sldId id="345" r:id="rId67"/>
    <p:sldId id="348" r:id="rId68"/>
    <p:sldId id="350" r:id="rId69"/>
    <p:sldId id="343" r:id="rId70"/>
    <p:sldId id="347" r:id="rId71"/>
    <p:sldId id="344" r:id="rId72"/>
    <p:sldId id="346" r:id="rId73"/>
    <p:sldId id="351" r:id="rId74"/>
    <p:sldId id="354" r:id="rId75"/>
    <p:sldId id="353" r:id="rId76"/>
    <p:sldId id="359" r:id="rId77"/>
    <p:sldId id="356" r:id="rId78"/>
    <p:sldId id="352" r:id="rId79"/>
    <p:sldId id="358" r:id="rId80"/>
    <p:sldId id="357" r:id="rId81"/>
    <p:sldId id="355" r:id="rId82"/>
    <p:sldId id="360" r:id="rId83"/>
    <p:sldId id="361" r:id="rId84"/>
    <p:sldId id="362" r:id="rId85"/>
    <p:sldId id="363" r:id="rId86"/>
    <p:sldId id="364" r:id="rId87"/>
    <p:sldId id="365" r:id="rId88"/>
    <p:sldId id="366" r:id="rId89"/>
    <p:sldId id="367" r:id="rId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4291" autoAdjust="0"/>
  </p:normalViewPr>
  <p:slideViewPr>
    <p:cSldViewPr>
      <p:cViewPr varScale="1">
        <p:scale>
          <a:sx n="111" d="100"/>
          <a:sy n="111" d="100"/>
        </p:scale>
        <p:origin x="166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Tuesday, February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f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i.org/10.1109/is57118.2022.1001962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514600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for: </a:t>
            </a:r>
            <a:b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Thesis Defense Committee  </a:t>
            </a:r>
            <a:br>
              <a:rPr lang="en-US" sz="2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143000"/>
            <a:ext cx="7848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Place Thesis Title Here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2895600" y="2209800"/>
            <a:ext cx="34726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Code: Thesis CSC 488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3659038" y="4724400"/>
            <a:ext cx="5486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Student1_Name: Md. Abdullah Ibne Aziz   ID: 22203246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Student1_Name: Shahriar Ahmed               ID: 22203202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8263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Date: 20/02/2026</a:t>
            </a:r>
            <a:endParaRPr lang="en-US" sz="200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9812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524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Faculty Name: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Snaholata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Mondal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Designation: Lecturer</a:t>
            </a:r>
          </a:p>
        </p:txBody>
      </p:sp>
      <p:pic>
        <p:nvPicPr>
          <p:cNvPr id="19" name="Picture 18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38" y="3733800"/>
            <a:ext cx="457200" cy="4705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671816" cy="487375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Introduction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Literature Review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Methodology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Result and Discussion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r>
              <a:rPr lang="en-US" sz="2400" dirty="0"/>
              <a:t>Major Depressive Disorder (MDD) is one of the leading causes of disability worldwide.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University students are particularly vulnerable due to: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Academic pressure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Financial stress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Psychosocial challenges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In Bangladesh, mental health services are limited, and social stigma often causes delayed diagnosis and treatment.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Meanwhile, emerging technologies such as Machine Learning (ML), Natural Language Processing (NLP), and digital behavioral data analysis are improving mental health assessment and early detection.</a:t>
            </a:r>
          </a:p>
          <a:p>
            <a:pPr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endParaRPr lang="en-US" sz="24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E7B4-1D09-FEF6-BEF7-04085F26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A552-F8EA-04BB-B5FE-BE821A389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CAAEEA6-A052-B206-33EC-AFB727A14F39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3D6B3FB8-A0A5-9586-0322-88E91D066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C6C3A6F-D240-65B7-8C97-FAF67AE2050C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(Contd.)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EF29D30-C856-9ABD-B281-30A4A0B579B1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r>
              <a:rPr lang="en-US" sz="2400" dirty="0"/>
              <a:t>Clinical Foundation – PHQ-9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The Patient Health Questionnaire-9 (PHQ-9) is a validated 9-item depression screening tool.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Based on DSM diagnostic criteria.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Widely used in clinical and epidemiological settings.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Measures emotional, cognitive, somatic, and risk-related symptoms.</a:t>
            </a:r>
          </a:p>
          <a:p>
            <a:pPr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endParaRPr lang="en-US" sz="24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6509B4D-B07B-C487-767D-CF4E327E2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DDD01-2D69-7301-AC81-0B8A3B41E351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98200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ACAEC-EDDE-0720-2604-FA74CC61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4D22-B137-EA66-A58C-1CCA1947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AFDACC8-D854-886F-1385-5EC4ABCD34D2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6C7A68B-EAAA-AA7E-B01A-70FA73506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6234952-AF2C-2180-D281-97FBF0ABB7F8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(Contd.)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ED8D03C-87D4-0F76-306B-FD3909B6B081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r>
              <a:rPr lang="en-US" sz="2400" dirty="0"/>
              <a:t>Unstructured Linguistic Monitoring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Individuals naturally express emotional distress through language.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Social media enables: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2400" dirty="0"/>
              <a:t>Passive monitoring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2400" dirty="0"/>
              <a:t>Continuous data collection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2400" dirty="0"/>
              <a:t>Real-world emotional expression</a:t>
            </a:r>
          </a:p>
          <a:p>
            <a:pPr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endParaRPr lang="en-US" sz="24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EA2201E-F8A4-1DC7-54EF-300D81BDC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55B6D0F-065D-F5E4-3797-2083BDC2CC98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8553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F204-9587-0C36-7999-48B7A599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75B1-DAA8-5DE3-2094-44CE1B760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83E2971-4FB1-6EC9-4377-89605DBB09BD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02D1246-BDA6-A141-85D3-CA0A4B14C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0612BA2-662F-F43F-DB95-7808318E52EA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Motivation of the Study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6E62806-3027-2626-1DA0-8170F290F8AB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PHQ-9 is clinically validated but depends on self-reporting and periodic administration, limiting continuous monitoring.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Social media language reflects spontaneous emotional and cognitive distress signals.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Existing research typically studies PHQ-9-based ML and NLP-based depression detection separately. 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Very limited work exists on Bengali-language depression detection using advanced NLP models.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Lack of a unified comparative framework evaluating structured and unstructured approaches under the same experimental setting.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Motivation to develop a dual-modality framework combining clinical screening and passive linguistic monitoring.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E06CBB-4BFE-3873-CF65-8E551227F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BFB519C-1E6C-C616-9A08-223A448F052C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4364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2277-A528-0622-3E85-07CD8109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41B1-CB2E-A2C1-9FE9-809C7BAD3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7433110-87D6-43B9-184F-2AB14384E195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2E07E05-81E1-EAEC-C8C2-980C1026A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9906EA5-88D0-2FE1-62AF-BB021BB45C36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Objectives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53386F-B10D-EC2D-4612-AFF19DB08F27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Develop traditional ML models using PHQ-9 data.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Develop NLP models using Bengali social media text.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Evaluate both approaches using standardized performance metrics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Apply Explainable AI techniques (SHAP, LIME).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Propose an integrated dual-modality depression screening framework.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E20F168-7B62-49F0-AB50-9D508D431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A855D78-94BA-FAFF-4D23-BC9FEEED23E9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6226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3F42-A0CE-6D64-B476-05883DDF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B2EA-0159-9668-A9E2-B008FE1D3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877150A-F086-386C-37B3-5961976E0F3D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D90B3F9-5B8A-9148-9A29-CB3E40AFC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4DB35ED-D7AA-5F9A-6FE4-A7C621FE3BC3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Objectives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009C41A-841B-CE78-079A-455410F36A4E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Construct and optimize traditional machine learning models for depression detection using structured PHQ-9 data.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Design and evaluate NLP-based models for detecting depressive expressions in Bengali social media text.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Conduct a direct performance comparison between structured (PHQ-9) and unstructured (text-based) approaches under a unified evaluation framework.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Assess model robustness using cross-validation and standardized metrics 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Enhance clinical transparency through Explainable AI techniques such as SHAP and LIME.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Investigate the feasibility of an integrated dual-modality screening framework combining clinical and linguistic signals.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6F38E6C-C77A-3DEC-1932-BA83810E3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5FBDA45-8614-6F96-32A1-06E5ED5093AC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472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C1FA-2E2D-16D2-E304-16CBC2CC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E9AB-68F4-7D26-DAF4-DCB8D141A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F9196D9-B1FC-12A8-B567-E1A46E46802D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7436BD99-F0ED-3CF8-4527-03A027C5D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E0FCB43-E776-0C8F-D196-8283E28E1160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Questions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80F55E-0C66-1B7A-B496-4A084A1E1F82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How do PHQ-9-based ML models compare with Bengali text-based NLP models for depression detection?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Can linguistic features match the predictive performance of PHQ-9 screening?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How robust and generalizable are the models under cross-validation and standard metrics?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How much do XAI methods improve interpretability and transparency?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Is a combined PHQ-9 + NLP framework feasible for scalable depression screening?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CE83F81-D590-4547-7F11-81DC96646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89489-25A3-59D2-C3A6-0E60543D2E7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0737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ABEE-0B2A-5C75-0DA0-11E341A5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98446-7AD7-AD2B-4257-856721ECB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A894883-7C33-2345-95E9-40034D2F7276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E6C3911-832C-0864-B60C-39A836C62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DCEF342-D98D-E71A-5B21-40584CE903F3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064C21-EFAA-B023-46EE-50D325DCA443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r>
              <a:rPr lang="en-US" sz="2400" dirty="0"/>
              <a:t>Paper: Dey et al. (2022) – </a:t>
            </a:r>
            <a:r>
              <a:rPr lang="en-US" sz="2400" i="1" dirty="0"/>
              <a:t>Machine Learning Combined with PHQ-9 for Analyzing Depression in Bangladeshi Metropolitan Areas 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Key Findings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Applied machine learning models on PHQ-9 responses collected from Bangladeshi participants.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Demonstrated that ML can improve depression classification beyond manual scoring.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Showed practical feasibility of ML-based screening in local population context.</a:t>
            </a:r>
          </a:p>
          <a:p>
            <a:pPr algn="just">
              <a:tabLst>
                <a:tab pos="685800" algn="l"/>
              </a:tabLst>
            </a:pPr>
            <a:r>
              <a:rPr lang="en-US" sz="2400" dirty="0"/>
              <a:t>Limitations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Limited exploration of advanced ensemble boosting models.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No probability calibration for clinical risk estimation.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Did not compare PHQ-9-based ML with NLP-based approaches.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4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0D0F311-04B0-F0A0-915C-C26C12BBE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CB11032-5132-5E41-EE87-5E43E24C8E3E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5976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24FC-0B6E-871E-F1FE-485C9595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8E7F-823C-A583-3456-52876878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C53BA8E-9C4B-93A4-C65D-0C5122524277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A8FD885-B92E-701F-9953-5C8A7CC14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13C2680-9FB3-7871-0A62-44340051A630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432BD19-DECE-9047-E141-B7DD8F9A42CE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r>
              <a:rPr lang="en-US" sz="2400" dirty="0"/>
              <a:t>Paper: Haq et al. (2022) – </a:t>
            </a:r>
            <a:r>
              <a:rPr lang="en-US" sz="2400" i="1" dirty="0"/>
              <a:t>Comparison of ML Algorithms for Predicting Depression Among University Students in Bangladesh 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Key Findings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Applied Random Forest and SVM on PHQ-9 data.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Demonstrated ML feasibility in Bangladeshi student population.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Identified tree-based models as strong predictors.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Limitations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Did not evaluate advanced boosting models (e.g., </a:t>
            </a:r>
            <a:r>
              <a:rPr lang="en-US" sz="2400" dirty="0" err="1"/>
              <a:t>XGBoost</a:t>
            </a:r>
            <a:r>
              <a:rPr lang="en-US" sz="2400" dirty="0"/>
              <a:t>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No probability calibration analysis.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Limited explainability analysis.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No comparison with NLP-based models.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807CEC0-F9C8-A7D9-9B8F-F740A01D4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BCC6E69-2114-8C9E-C3E6-C58416B548DE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96094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136A-1D1F-4239-4A9B-4D22DF08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357F-60A9-47BB-7CE1-58EE1803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12583B5-FAD2-A643-DAC7-FA72EFF718E4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0A29CF66-A7CB-DB7E-F576-F295BF596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C98EB6D-9E3C-E29F-E6AD-BF0C5835B176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D9DF71A-A869-652E-ADAA-54C281E673C2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r>
              <a:rPr lang="en-US" sz="2400" dirty="0"/>
              <a:t>Paper: Glavin et al. (2022) – </a:t>
            </a:r>
            <a:r>
              <a:rPr lang="en-US" sz="2400" i="1" dirty="0"/>
              <a:t>PHQ-9 Item Pairing Predictiveness Using ML 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Key Findings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Used ML to optimize PHQ-9 item combinations.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Showed data-driven item selection improves screening efficiency.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Limitations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Focused only on item reduction strategy.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Did not explore full-feature engineering and risk stratification.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No explainable AI integration.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No comparison with unstructured text-based models.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4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922CC31-7DD3-3CAE-C3DE-C8BB8EAAE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69F5B01-2F73-047D-C41A-17C4EC37FBBB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59138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904C-D05C-2E34-CE69-FC5140ED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F1AF-D9B7-03BD-24BE-7661EB62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69D545A-743B-4545-8CD2-D31F85CC6C83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3FAA41C8-BA77-9341-C627-6418A969A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7E906C9-3FFE-014D-8C40-2A8D801C084B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DF8208D-FC6C-A310-1DC5-B9F09A17B178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r>
              <a:rPr lang="en-US" sz="2400" dirty="0"/>
              <a:t>Paper: Hossain et al. (2022) – </a:t>
            </a:r>
            <a:r>
              <a:rPr lang="en-US" sz="2400" i="1" dirty="0"/>
              <a:t>Depression Detection in Bengali Facebook Data Using LIWC + Random Forest</a:t>
            </a:r>
            <a:r>
              <a:rPr lang="en-US" sz="2400" dirty="0"/>
              <a:t> 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Key Findings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Identified linguistic markers of depression.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Used LIWC-based features with Random Forest.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Demonstrated feasibility of Bengali depression detection.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Limitations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Relied on handcrafted linguistic features (LIWC).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No deep learning or transformer-based modeling.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No ensemble learning framework.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No structured PHQ-9 comparison.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4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A60CF87-F55D-6CA0-9B49-C9C91B549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78B5E47-5A09-5FCD-219F-E48AE61342E1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25968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673B5-E91E-BB1A-2267-561C6833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BAEE-5735-0367-5D2E-A360F2D7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D2E3035-D85D-ACF4-BB8A-D0717D7C3FF5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CB0CE0C-64F7-8904-E181-64884A4E9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DC310CD-EE29-256E-E070-1E651886CD6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DF3DC68-9536-1E92-F2C7-F628768D8CF7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r>
              <a:rPr lang="en-US" sz="2400" dirty="0"/>
              <a:t>Paper: Alves et al. (2025) – </a:t>
            </a:r>
            <a:r>
              <a:rPr lang="en-US" sz="2400" i="1" dirty="0"/>
              <a:t>ML Model Using Clinical Notes to Estimate PHQ-9 Severity 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Key Findings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Combined structured PHQ-9 data with unstructured clinical notes.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Achieved high AUC with ensemble models.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Emphasized explainability in clinical AI systems.</a:t>
            </a:r>
          </a:p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algn="just">
              <a:tabLst>
                <a:tab pos="685800" algn="l"/>
              </a:tabLst>
            </a:pPr>
            <a:r>
              <a:rPr lang="en-US" sz="2400" dirty="0"/>
              <a:t>Limitations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Focused on EMR clinical notes, not social media data.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Conducted in high-resource healthcare settings.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Did not conduct a direct independent comparison between structured and unstructured pipelines.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4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A187157-0A1F-C09E-FC58-030F6A3CD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45E6CFC-A3C7-39DE-1457-F66FE863E83F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5567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EB277-64AB-21D6-2422-D45C6C4C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63A4-09BE-99EB-CBE9-DA04324E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30FDF82-FFD9-3969-8615-1F41E43B536E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3F54BB7-70E3-63CF-64A8-51E0EA5F2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FB4D472-E0F8-6C2C-9342-A3AC1E059DD5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Contribution of the Study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9144C7E-A489-875F-C2A7-DCAE3150508B}"/>
              </a:ext>
            </a:extLst>
          </p:cNvPr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Direct comparative analysis of PHQ-9–based Traditional ML and Bengali NLP–based models within a unified framework.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Optimized PHQ-9 ML pipeline with feature engineering, cross-validation, and probability calibration.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Advanced NLP implementation using LSTM, multilingual BERT, and stacked ensemble for low-resource Bengali text.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Integration of SHAP and LIME for explainable and clinically interpretable AI.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Proposal of a dual-modality depression screening framework combining clinical and linguistic signals.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/>
              <a:t>Development of two original datasets (Survey + NLP), publicly available on Mendeley Data for reproducibility.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254168D-240A-27D1-7E4B-CF4866504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E65352E-565E-4BBC-AABB-1C9D1639BDFC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64843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Methodology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1D7620-A5E9-C1D1-4FC8-9C608DB9AC1A}"/>
              </a:ext>
            </a:extLst>
          </p:cNvPr>
          <p:cNvSpPr txBox="1"/>
          <p:nvPr/>
        </p:nvSpPr>
        <p:spPr>
          <a:xfrm>
            <a:off x="609600" y="5403609"/>
            <a:ext cx="7797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Fig: PHQ-9 Methodology (Traditional ML) Pipeline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0F1063D-27A0-90A6-E6F0-C4F0D81D4AE1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7E1CE1-27B8-4926-933C-2B6B62A60F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079891"/>
            <a:ext cx="8734353" cy="41779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116F-AA47-466F-6C92-F8BBEA1D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AB1B-EA7A-83E7-06A5-4461918A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Methodology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4A44F41-D03A-CAED-46DB-99BE68797993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C778080-4EA0-93E5-C48C-4580DC6F3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1F8A27E8-09F2-79EB-D75F-768494ADE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F2FA8A-E30D-B9B0-41EF-9E5135A11D5A}"/>
              </a:ext>
            </a:extLst>
          </p:cNvPr>
          <p:cNvSpPr txBox="1"/>
          <p:nvPr/>
        </p:nvSpPr>
        <p:spPr>
          <a:xfrm>
            <a:off x="661086" y="5791200"/>
            <a:ext cx="7416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Fig: PHQ-9 Methodology (NLP) Pipeline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9A65ACC3-8BB0-A54E-25E0-CC54E58C3B40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85E938-2903-418A-875D-76BC8A3113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11044"/>
            <a:ext cx="852618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98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AF87-D838-47A1-A85A-36F6D714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E7D7-F5F7-6673-5BAF-BFEAE8CB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89795C-1B6E-8243-6FD8-687E6FF42F33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092234D-2443-945A-9F21-43BCDB6E9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3B44B6E1-DBC2-B119-850E-872960CE3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23A1E488-BC48-99DD-577C-2B9F27859C1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88CDDB-76BE-B694-7000-74E5AF20F54C}"/>
              </a:ext>
            </a:extLst>
          </p:cNvPr>
          <p:cNvSpPr txBox="1"/>
          <p:nvPr/>
        </p:nvSpPr>
        <p:spPr>
          <a:xfrm>
            <a:off x="1016343" y="1073455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Table: Model Comparison (PHQ-9 traditional ML)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3C099B8-A565-472A-8D7E-E9C87C311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275271"/>
              </p:ext>
            </p:extLst>
          </p:nvPr>
        </p:nvGraphicFramePr>
        <p:xfrm>
          <a:off x="661086" y="1600200"/>
          <a:ext cx="7720914" cy="22266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1752">
                  <a:extLst>
                    <a:ext uri="{9D8B030D-6E8A-4147-A177-3AD203B41FA5}">
                      <a16:colId xmlns:a16="http://schemas.microsoft.com/office/drawing/2014/main" val="4038652321"/>
                    </a:ext>
                  </a:extLst>
                </a:gridCol>
                <a:gridCol w="1670166">
                  <a:extLst>
                    <a:ext uri="{9D8B030D-6E8A-4147-A177-3AD203B41FA5}">
                      <a16:colId xmlns:a16="http://schemas.microsoft.com/office/drawing/2014/main" val="92417159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1675379937"/>
                    </a:ext>
                  </a:extLst>
                </a:gridCol>
                <a:gridCol w="1544183">
                  <a:extLst>
                    <a:ext uri="{9D8B030D-6E8A-4147-A177-3AD203B41FA5}">
                      <a16:colId xmlns:a16="http://schemas.microsoft.com/office/drawing/2014/main" val="1893888860"/>
                    </a:ext>
                  </a:extLst>
                </a:gridCol>
                <a:gridCol w="1544183">
                  <a:extLst>
                    <a:ext uri="{9D8B030D-6E8A-4147-A177-3AD203B41FA5}">
                      <a16:colId xmlns:a16="http://schemas.microsoft.com/office/drawing/2014/main" val="3497907890"/>
                    </a:ext>
                  </a:extLst>
                </a:gridCol>
              </a:tblGrid>
              <a:tr h="65012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Class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Precession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Recall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F1-Score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Accuracy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698273"/>
                  </a:ext>
                </a:extLst>
              </a:tr>
              <a:tr h="95007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Not Depressed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0.9635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320654"/>
                  </a:ext>
                </a:extLst>
              </a:tr>
              <a:tr h="61956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Depressed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0.9743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354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440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AF87-D838-47A1-A85A-36F6D714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E7D7-F5F7-6673-5BAF-BFEAE8CB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89795C-1B6E-8243-6FD8-687E6FF42F33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092234D-2443-945A-9F21-43BCDB6E9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3B44B6E1-DBC2-B119-850E-872960CE3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23A1E488-BC48-99DD-577C-2B9F27859C1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EE1D4-2747-4324-B9AD-0E758912B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0" y="1023937"/>
            <a:ext cx="6438900" cy="48101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2CA5DE-6746-45DA-AD1E-F84A39BE4769}"/>
              </a:ext>
            </a:extLst>
          </p:cNvPr>
          <p:cNvSpPr txBox="1"/>
          <p:nvPr/>
        </p:nvSpPr>
        <p:spPr>
          <a:xfrm>
            <a:off x="2514600" y="6017164"/>
            <a:ext cx="457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Fig: Confusion Matrix of Optimized </a:t>
            </a:r>
            <a:r>
              <a:rPr lang="en-US" sz="1800" dirty="0" err="1"/>
              <a:t>XGBoost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86680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AF87-D838-47A1-A85A-36F6D714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E7D7-F5F7-6673-5BAF-BFEAE8CB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89795C-1B6E-8243-6FD8-687E6FF42F33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092234D-2443-945A-9F21-43BCDB6E9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3B44B6E1-DBC2-B119-850E-872960CE3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BDA7DD-F1BF-57C6-928B-F16C0FCA5AD9}"/>
              </a:ext>
            </a:extLst>
          </p:cNvPr>
          <p:cNvGraphicFramePr>
            <a:graphicFrameLocks noGrp="1"/>
          </p:cNvGraphicFramePr>
          <p:nvPr/>
        </p:nvGraphicFramePr>
        <p:xfrm>
          <a:off x="661086" y="1600200"/>
          <a:ext cx="7745922" cy="43700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4038652321"/>
                    </a:ext>
                  </a:extLst>
                </a:gridCol>
                <a:gridCol w="1134173">
                  <a:extLst>
                    <a:ext uri="{9D8B030D-6E8A-4147-A177-3AD203B41FA5}">
                      <a16:colId xmlns:a16="http://schemas.microsoft.com/office/drawing/2014/main" val="92417159"/>
                    </a:ext>
                  </a:extLst>
                </a:gridCol>
                <a:gridCol w="1290987">
                  <a:extLst>
                    <a:ext uri="{9D8B030D-6E8A-4147-A177-3AD203B41FA5}">
                      <a16:colId xmlns:a16="http://schemas.microsoft.com/office/drawing/2014/main" val="1550820070"/>
                    </a:ext>
                  </a:extLst>
                </a:gridCol>
                <a:gridCol w="1290987">
                  <a:extLst>
                    <a:ext uri="{9D8B030D-6E8A-4147-A177-3AD203B41FA5}">
                      <a16:colId xmlns:a16="http://schemas.microsoft.com/office/drawing/2014/main" val="1675379937"/>
                    </a:ext>
                  </a:extLst>
                </a:gridCol>
                <a:gridCol w="1290987">
                  <a:extLst>
                    <a:ext uri="{9D8B030D-6E8A-4147-A177-3AD203B41FA5}">
                      <a16:colId xmlns:a16="http://schemas.microsoft.com/office/drawing/2014/main" val="1893888860"/>
                    </a:ext>
                  </a:extLst>
                </a:gridCol>
                <a:gridCol w="1290987">
                  <a:extLst>
                    <a:ext uri="{9D8B030D-6E8A-4147-A177-3AD203B41FA5}">
                      <a16:colId xmlns:a16="http://schemas.microsoft.com/office/drawing/2014/main" val="3497907890"/>
                    </a:ext>
                  </a:extLst>
                </a:gridCol>
              </a:tblGrid>
              <a:tr h="40913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Model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Accuracy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Precision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Recall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F1-Score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AUC-ROC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698273"/>
                  </a:ext>
                </a:extLst>
              </a:tr>
              <a:tr h="40913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XGBoost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0.9635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0.9683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0.9531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0.9606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0.9944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320654"/>
                  </a:ext>
                </a:extLst>
              </a:tr>
              <a:tr h="88626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Random Forest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0.8905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0.8889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0.8750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0.8819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0.9743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354583"/>
                  </a:ext>
                </a:extLst>
              </a:tr>
              <a:tr h="40913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KNN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0.8686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0.9792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0.7344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0.8393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0.9384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558823"/>
                  </a:ext>
                </a:extLst>
              </a:tr>
              <a:tr h="88626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Decision Tree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0.8613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0.8814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0.8125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0.8455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0.9325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470360"/>
                  </a:ext>
                </a:extLst>
              </a:tr>
              <a:tr h="88626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Logistic Regression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0.8394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0.9038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0.7344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0.8103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0.9360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24279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23A1E488-BC48-99DD-577C-2B9F27859C1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88CDDB-76BE-B694-7000-74E5AF20F54C}"/>
              </a:ext>
            </a:extLst>
          </p:cNvPr>
          <p:cNvSpPr txBox="1"/>
          <p:nvPr/>
        </p:nvSpPr>
        <p:spPr>
          <a:xfrm>
            <a:off x="1016343" y="1073455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Table: Model Comparison (PHQ-9 traditional ML)</a:t>
            </a:r>
          </a:p>
        </p:txBody>
      </p:sp>
    </p:spTree>
    <p:extLst>
      <p:ext uri="{BB962C8B-B14F-4D97-AF65-F5344CB8AC3E}">
        <p14:creationId xmlns:p14="http://schemas.microsoft.com/office/powerpoint/2010/main" val="1768613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F142-B7C9-3CD5-3EAB-CEB5F504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18C1-0E11-56AB-9BB4-248A4F8C4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5982E74-AFFC-4830-645A-58EBAB46F80B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4B9E0EC-5F98-8580-2F6A-D6BEFAEFA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4FDE329-30D5-FB6D-6BE4-63427C948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6F336D-EE66-F925-026E-EDE6F8D5B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838200"/>
            <a:ext cx="5791200" cy="4737021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75410E7-DDC0-995A-9154-B35F2D8F9C46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E4B89-E218-964E-A708-FA76DF5275A6}"/>
              </a:ext>
            </a:extLst>
          </p:cNvPr>
          <p:cNvSpPr txBox="1"/>
          <p:nvPr/>
        </p:nvSpPr>
        <p:spPr>
          <a:xfrm>
            <a:off x="1295400" y="5638381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ROC Curve Comparison Across All Models</a:t>
            </a:r>
          </a:p>
        </p:txBody>
      </p:sp>
    </p:spTree>
    <p:extLst>
      <p:ext uri="{BB962C8B-B14F-4D97-AF65-F5344CB8AC3E}">
        <p14:creationId xmlns:p14="http://schemas.microsoft.com/office/powerpoint/2010/main" val="2765198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387D2-FEE9-8005-B229-A2894EBC2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2125-B1E2-7446-0650-5BC8AD1D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9B9AB69-1B65-9119-FA30-A9C1A0BF108B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0277847-6F31-029E-967E-9105CC56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E4BBB05-54D3-9802-292B-1801C89F7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56CBD4-6B4A-9103-2E4E-6452FC28F2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653" y="914400"/>
            <a:ext cx="6490694" cy="45663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423BFED-3F4B-A781-5FE0-01E6E0F7B648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DA660-569F-8059-5CF7-3B4BCDE8A61D}"/>
              </a:ext>
            </a:extLst>
          </p:cNvPr>
          <p:cNvSpPr txBox="1"/>
          <p:nvPr/>
        </p:nvSpPr>
        <p:spPr>
          <a:xfrm>
            <a:off x="1295400" y="5638381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</a:t>
            </a:r>
            <a:r>
              <a:rPr lang="en-US" sz="2000" dirty="0" err="1"/>
              <a:t>XGBoost</a:t>
            </a:r>
            <a:r>
              <a:rPr lang="en-US" sz="2000" dirty="0"/>
              <a:t> Cross Validation Fold Accuracy Distribution</a:t>
            </a:r>
          </a:p>
        </p:txBody>
      </p:sp>
    </p:spTree>
    <p:extLst>
      <p:ext uri="{BB962C8B-B14F-4D97-AF65-F5344CB8AC3E}">
        <p14:creationId xmlns:p14="http://schemas.microsoft.com/office/powerpoint/2010/main" val="640970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4CBBD-88BD-4D23-1176-54175129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2084-17ED-4413-5F2D-F438D8E0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13954DC-0A80-D610-B763-14CFE7197902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797B777-34A6-C240-559E-20502FFEA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47CD090-2E2B-AF27-00B1-4A58CBFE6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21D401-767C-063B-FEB8-81700B447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68" y="710881"/>
            <a:ext cx="7570664" cy="50292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695B637-ED7A-2726-F9C8-447096A6B770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934AB-C6C5-BB2C-8C59-358492D34799}"/>
              </a:ext>
            </a:extLst>
          </p:cNvPr>
          <p:cNvSpPr txBox="1"/>
          <p:nvPr/>
        </p:nvSpPr>
        <p:spPr>
          <a:xfrm>
            <a:off x="1367852" y="5841362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</a:t>
            </a:r>
            <a:r>
              <a:rPr lang="en-US" sz="2000" dirty="0" err="1"/>
              <a:t>XGBoost</a:t>
            </a:r>
            <a:r>
              <a:rPr lang="en-US" sz="2000" dirty="0"/>
              <a:t> Feature Importance </a:t>
            </a:r>
          </a:p>
        </p:txBody>
      </p:sp>
    </p:spTree>
    <p:extLst>
      <p:ext uri="{BB962C8B-B14F-4D97-AF65-F5344CB8AC3E}">
        <p14:creationId xmlns:p14="http://schemas.microsoft.com/office/powerpoint/2010/main" val="3818913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D316-D423-B3B6-B499-2882709F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3355-4322-95A5-E7CE-28492050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9C943E3-1E89-5C7B-9DC6-2F3939BDAF40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898C4D9-30F7-EAE9-9BFE-FD8EA1FF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87B6A8-5FF0-4B82-6167-B79189DDB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BAABCC-734E-1999-84AD-9FB293755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671" y="838200"/>
            <a:ext cx="5460657" cy="4739562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349FDD5-1D10-F55F-25B9-2D56705F92FF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3452B-E58F-A0DA-E5C9-0F4C3A98B41B}"/>
              </a:ext>
            </a:extLst>
          </p:cNvPr>
          <p:cNvSpPr txBox="1"/>
          <p:nvPr/>
        </p:nvSpPr>
        <p:spPr>
          <a:xfrm>
            <a:off x="1367852" y="5841362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3418053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C8E63-26CE-CEAA-3CA0-43DC038B5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732C-4170-6D6C-727E-4293BA833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EA1175F-79EF-E301-ACB2-48BB954D36DE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95B0844-7BC9-6408-0838-F56466E75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D94B048-7625-B39E-7AFD-92CF9B545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53E157-22B9-7137-F8BD-7185678ADD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39" y="1133475"/>
            <a:ext cx="4067340" cy="342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8BC23-8F43-4731-6766-32B064E17F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917" y="1134109"/>
            <a:ext cx="3984483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09B7199-E142-1512-5060-43192E7D9CBE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25B5CA-D397-A573-CA27-850F3AC1B9AE}"/>
              </a:ext>
            </a:extLst>
          </p:cNvPr>
          <p:cNvSpPr txBox="1"/>
          <p:nvPr/>
        </p:nvSpPr>
        <p:spPr>
          <a:xfrm>
            <a:off x="1367852" y="5046235"/>
            <a:ext cx="7111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Probability Calibration Analysis and Predictive Reliability Distribution </a:t>
            </a:r>
          </a:p>
        </p:txBody>
      </p:sp>
    </p:spTree>
    <p:extLst>
      <p:ext uri="{BB962C8B-B14F-4D97-AF65-F5344CB8AC3E}">
        <p14:creationId xmlns:p14="http://schemas.microsoft.com/office/powerpoint/2010/main" val="2597863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E2803-C669-E379-4D5C-2EB3EFA5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E943-E69E-3B6C-2C1B-B067991F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C7E447B-01FF-774C-BEDD-760CE3AB0E67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11CF207-593A-17FE-22BE-FED34B8A0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DE694B0-06A1-649C-3912-661839791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E30276-D70D-070A-88C6-B239EA2741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399"/>
            <a:ext cx="4191000" cy="3385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9B5058-AFEB-559E-B52C-1FC498550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089" y="1295400"/>
            <a:ext cx="4263297" cy="33610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93495C5-51DE-0D91-49DC-B646CA209912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E3E0A-FA22-A205-5F74-E63B2CF6281D}"/>
              </a:ext>
            </a:extLst>
          </p:cNvPr>
          <p:cNvSpPr txBox="1"/>
          <p:nvPr/>
        </p:nvSpPr>
        <p:spPr>
          <a:xfrm>
            <a:off x="1367852" y="5046235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Local Interpretability Via SHAP waterfall </a:t>
            </a:r>
          </a:p>
        </p:txBody>
      </p:sp>
    </p:spTree>
    <p:extLst>
      <p:ext uri="{BB962C8B-B14F-4D97-AF65-F5344CB8AC3E}">
        <p14:creationId xmlns:p14="http://schemas.microsoft.com/office/powerpoint/2010/main" val="44269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BB666-9B02-95D6-746B-A29B8D70D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39C-5F21-A2CA-8B31-5009ED65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4A4F9C6-321B-DDB6-9022-DF3DF90805D2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AB8E2DC-DEEE-E4EE-1012-5AF66DD8A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73A2E23-9601-0D14-AA2D-C2792B22C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F92A95-0F65-5E1C-0C94-F0534D4AC2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826512"/>
            <a:ext cx="5181600" cy="2569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033122-6716-DDCC-C3E2-1DBCD64552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12" y="3395932"/>
            <a:ext cx="4850188" cy="240533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CF7DB48-E5D4-446C-25FE-D818B03B7758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3257D-E1E9-9CD4-CC84-15FB0830F0F4}"/>
              </a:ext>
            </a:extLst>
          </p:cNvPr>
          <p:cNvSpPr txBox="1"/>
          <p:nvPr/>
        </p:nvSpPr>
        <p:spPr>
          <a:xfrm>
            <a:off x="1295400" y="5965352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LIME Local 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1265036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7DE2-A6B2-8276-398A-93DDFF06C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B891-8755-50A5-EF50-98898416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AAC8D81-9ED8-E419-E22C-DB7FD28D0757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252764E-1CC0-7BFC-F5A3-B73F74C0F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C2191F34-DAE3-558E-2078-D851601F6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89BE6C-C83D-65B0-F092-8877FAD56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94" y="1143000"/>
            <a:ext cx="3926793" cy="3124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8A187A-558E-B311-3885-EF075D80A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557" y="1210756"/>
            <a:ext cx="3841364" cy="3056444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FE11120-ED84-1C5D-B989-75B1028273FD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839288-BE22-A7C4-935F-29346693500C}"/>
              </a:ext>
            </a:extLst>
          </p:cNvPr>
          <p:cNvSpPr txBox="1"/>
          <p:nvPr/>
        </p:nvSpPr>
        <p:spPr>
          <a:xfrm>
            <a:off x="1295400" y="4784124"/>
            <a:ext cx="6937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Word Cloud</a:t>
            </a:r>
          </a:p>
        </p:txBody>
      </p:sp>
    </p:spTree>
    <p:extLst>
      <p:ext uri="{BB962C8B-B14F-4D97-AF65-F5344CB8AC3E}">
        <p14:creationId xmlns:p14="http://schemas.microsoft.com/office/powerpoint/2010/main" val="3596404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B181-6252-94FA-D3F2-D0BB83077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9D1E-0641-AB41-C8FA-246DE151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1B6A55D-DC76-6C02-9BD0-FCD5F5B45A56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F0185DF-A62D-6183-2BF3-D63010D0D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98E452A-8C9D-2846-AB4E-8FFF1ABF8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739309-C5DB-EC25-3A26-409190467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144564"/>
              </p:ext>
            </p:extLst>
          </p:nvPr>
        </p:nvGraphicFramePr>
        <p:xfrm>
          <a:off x="838199" y="1600200"/>
          <a:ext cx="7696201" cy="23647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6212">
                  <a:extLst>
                    <a:ext uri="{9D8B030D-6E8A-4147-A177-3AD203B41FA5}">
                      <a16:colId xmlns:a16="http://schemas.microsoft.com/office/drawing/2014/main" val="203582245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4666501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42061990"/>
                    </a:ext>
                  </a:extLst>
                </a:gridCol>
                <a:gridCol w="795999">
                  <a:extLst>
                    <a:ext uri="{9D8B030D-6E8A-4147-A177-3AD203B41FA5}">
                      <a16:colId xmlns:a16="http://schemas.microsoft.com/office/drawing/2014/main" val="4151898493"/>
                    </a:ext>
                  </a:extLst>
                </a:gridCol>
                <a:gridCol w="956601">
                  <a:extLst>
                    <a:ext uri="{9D8B030D-6E8A-4147-A177-3AD203B41FA5}">
                      <a16:colId xmlns:a16="http://schemas.microsoft.com/office/drawing/2014/main" val="20896002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70832607"/>
                    </a:ext>
                  </a:extLst>
                </a:gridCol>
                <a:gridCol w="751024">
                  <a:extLst>
                    <a:ext uri="{9D8B030D-6E8A-4147-A177-3AD203B41FA5}">
                      <a16:colId xmlns:a16="http://schemas.microsoft.com/office/drawing/2014/main" val="3628653537"/>
                    </a:ext>
                  </a:extLst>
                </a:gridCol>
                <a:gridCol w="1140765">
                  <a:extLst>
                    <a:ext uri="{9D8B030D-6E8A-4147-A177-3AD203B41FA5}">
                      <a16:colId xmlns:a16="http://schemas.microsoft.com/office/drawing/2014/main" val="1054147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Accuracy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Precision (D)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Recall (D)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F1-Score (D)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Precision (ND)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Recall (ND)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F1-Score (ND)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724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BERT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0.9578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0.96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701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LSTM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0.8103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490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Random Forest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0.7728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0.76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0.80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0.78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0.79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0.75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0.77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740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Ensemble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0.9578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0.96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5068353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F2517E9-2D91-2414-6670-E9C6FBE811F7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C54B82-FDA9-E17B-6ABB-B1F369718E46}"/>
              </a:ext>
            </a:extLst>
          </p:cNvPr>
          <p:cNvSpPr txBox="1"/>
          <p:nvPr/>
        </p:nvSpPr>
        <p:spPr>
          <a:xfrm>
            <a:off x="1016343" y="1073455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Table: Base Models vs Ensemble Performance</a:t>
            </a:r>
          </a:p>
        </p:txBody>
      </p:sp>
    </p:spTree>
    <p:extLst>
      <p:ext uri="{BB962C8B-B14F-4D97-AF65-F5344CB8AC3E}">
        <p14:creationId xmlns:p14="http://schemas.microsoft.com/office/powerpoint/2010/main" val="2560466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66C94-0C8C-8D11-60CA-47911746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2223-0C07-7773-2773-E489C224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7C48C31-6E14-E849-B83E-DD468C276486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8D33759-DBF7-3F68-EDBF-7F212327C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CE916A82-D52F-9467-B3E9-7F5F02A49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4B4A43-87CF-F254-F73A-7DF7D30F1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762000"/>
            <a:ext cx="6019800" cy="46901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AB896-4741-F214-5BCA-B31B36F5E703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E3E22-979E-9AFC-87FF-E18015871F6A}"/>
              </a:ext>
            </a:extLst>
          </p:cNvPr>
          <p:cNvSpPr txBox="1"/>
          <p:nvPr/>
        </p:nvSpPr>
        <p:spPr>
          <a:xfrm>
            <a:off x="1396607" y="5721976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ROC Curve for Ensemble Model</a:t>
            </a:r>
          </a:p>
        </p:txBody>
      </p:sp>
    </p:spTree>
    <p:extLst>
      <p:ext uri="{BB962C8B-B14F-4D97-AF65-F5344CB8AC3E}">
        <p14:creationId xmlns:p14="http://schemas.microsoft.com/office/powerpoint/2010/main" val="2410290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E4E8-F000-7B21-5C5B-C84EB5D8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903F-8158-E20B-7D75-9E57FBC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C62E688-EFD3-699A-9920-7BB8E2900D25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84BAAE80-DC33-D72D-0BD9-8E9257D98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5D4AE63-EA2D-05F7-8F5A-B36A595F6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E332A8-EC42-9BF3-E06C-00FA6354F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696" y="838200"/>
            <a:ext cx="6215938" cy="45720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DACB3A9-C36B-A82C-9F65-F5831AD3B44F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5A859-5208-A266-C6AE-EB29353CDAFE}"/>
              </a:ext>
            </a:extLst>
          </p:cNvPr>
          <p:cNvSpPr txBox="1"/>
          <p:nvPr/>
        </p:nvSpPr>
        <p:spPr>
          <a:xfrm>
            <a:off x="914400" y="5611483"/>
            <a:ext cx="7745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Accuracy Comparison between Base Models and Ensemble Approach</a:t>
            </a:r>
          </a:p>
        </p:txBody>
      </p:sp>
    </p:spTree>
    <p:extLst>
      <p:ext uri="{BB962C8B-B14F-4D97-AF65-F5344CB8AC3E}">
        <p14:creationId xmlns:p14="http://schemas.microsoft.com/office/powerpoint/2010/main" val="2738491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734A5-67CF-5D31-F138-02830790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D010-2186-A5D2-BDEC-3D5FCB5C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1AA0D99-85CB-1509-5377-BB9FF9191BAE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F0F23D3-B4C7-0366-C551-52CC9A059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2D077016-99D1-1C71-CA77-6A0428213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5F5FA3-AC27-C633-38B1-16A9E621EF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617621"/>
            <a:ext cx="3951240" cy="5843337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C52D5A2-4894-233F-50CD-34101085A72C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CF2B5-2C95-111C-7074-C8285A8AB35A}"/>
              </a:ext>
            </a:extLst>
          </p:cNvPr>
          <p:cNvSpPr txBox="1"/>
          <p:nvPr/>
        </p:nvSpPr>
        <p:spPr>
          <a:xfrm>
            <a:off x="457200" y="1295400"/>
            <a:ext cx="320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Fig: Clinical Decision System Support Workflow for Model Integration</a:t>
            </a:r>
          </a:p>
        </p:txBody>
      </p:sp>
    </p:spTree>
    <p:extLst>
      <p:ext uri="{BB962C8B-B14F-4D97-AF65-F5344CB8AC3E}">
        <p14:creationId xmlns:p14="http://schemas.microsoft.com/office/powerpoint/2010/main" val="2752887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0B9A-284B-75DD-F728-F42636C29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0FA35-6945-655F-A354-73A65043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06B1A1D-9157-4760-0720-7BDB274A98E2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1A2AE85-3FF8-6EF2-5BE9-F2F13BDC1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46E55F04-591D-E7BD-3F11-4ED4A397E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CDF949-D179-B32E-546B-B039082377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184" y="719064"/>
            <a:ext cx="4732384" cy="5529336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38D32A5-6681-6CFC-85F8-685850CA7E99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E71AF-8759-8A46-1BA7-9DD872A81792}"/>
              </a:ext>
            </a:extLst>
          </p:cNvPr>
          <p:cNvSpPr txBox="1"/>
          <p:nvPr/>
        </p:nvSpPr>
        <p:spPr>
          <a:xfrm>
            <a:off x="457200" y="1600200"/>
            <a:ext cx="320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Fig: System Architecture for Social Media Health Monitoring</a:t>
            </a:r>
          </a:p>
        </p:txBody>
      </p:sp>
    </p:spTree>
    <p:extLst>
      <p:ext uri="{BB962C8B-B14F-4D97-AF65-F5344CB8AC3E}">
        <p14:creationId xmlns:p14="http://schemas.microsoft.com/office/powerpoint/2010/main" val="782191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23CD8F-A60E-35B5-A5D3-4CD5245F51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658906"/>
            <a:ext cx="3097530" cy="558927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655E9-5D52-B757-2DA7-41907445F41D}"/>
              </a:ext>
            </a:extLst>
          </p:cNvPr>
          <p:cNvSpPr txBox="1"/>
          <p:nvPr/>
        </p:nvSpPr>
        <p:spPr>
          <a:xfrm>
            <a:off x="661086" y="1676400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Fig: Dual Modality Depression Screening</a:t>
            </a:r>
          </a:p>
        </p:txBody>
      </p:sp>
    </p:spTree>
    <p:extLst>
      <p:ext uri="{BB962C8B-B14F-4D97-AF65-F5344CB8AC3E}">
        <p14:creationId xmlns:p14="http://schemas.microsoft.com/office/powerpoint/2010/main" val="4076433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8142-9AFA-F134-8DE2-73441696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8476D-D565-7348-C9CD-B7AD7AC5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45D1060-0AB4-DDDD-CA94-F1DECF569D2C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6A4EA56D-FC71-C3BD-D874-FC4648C94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1D425C6-49FD-933A-95E7-7FCAF87E1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565E5F-2A80-9E60-5144-9973956E6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19208"/>
              </p:ext>
            </p:extLst>
          </p:nvPr>
        </p:nvGraphicFramePr>
        <p:xfrm>
          <a:off x="723900" y="1371600"/>
          <a:ext cx="7696200" cy="48834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48388105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253540239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4100130595"/>
                    </a:ext>
                  </a:extLst>
                </a:gridCol>
              </a:tblGrid>
              <a:tr h="298928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Aspect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PHQ-9 Based ML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Bengali social media NLP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898075563"/>
                  </a:ext>
                </a:extLst>
              </a:tr>
              <a:tr h="6516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Dataset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682 Bangladeshi university students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2,841 manually curated Bengali sentences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2806298235"/>
                  </a:ext>
                </a:extLst>
              </a:tr>
              <a:tr h="6516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Models Used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Logistic Regression, DT, KNN, RF, XGBoost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RF (TF-IDF), LSTM, </a:t>
                      </a:r>
                      <a:r>
                        <a:rPr lang="en-US" sz="1600" dirty="0" err="1">
                          <a:effectLst/>
                        </a:rPr>
                        <a:t>mBERT</a:t>
                      </a:r>
                      <a:r>
                        <a:rPr lang="en-US" sz="1600" dirty="0">
                          <a:effectLst/>
                        </a:rPr>
                        <a:t>, Stacked Ensemble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2107477955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Best 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XGBoost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Stacked Ensemble (</a:t>
                      </a:r>
                      <a:r>
                        <a:rPr lang="en-US" sz="1600" dirty="0" err="1">
                          <a:effectLst/>
                        </a:rPr>
                        <a:t>mBERT</a:t>
                      </a:r>
                      <a:r>
                        <a:rPr lang="en-US" sz="1600" dirty="0">
                          <a:effectLst/>
                        </a:rPr>
                        <a:t> + LSTM + RF)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4264549845"/>
                  </a:ext>
                </a:extLst>
              </a:tr>
              <a:tr h="29892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Accuracy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96.35%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95.78%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3340080762"/>
                  </a:ext>
                </a:extLst>
              </a:tr>
              <a:tr h="6516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AUC-ROC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0.9944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High (ROC presented for BERT &amp; ensemble)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1811746181"/>
                  </a:ext>
                </a:extLst>
              </a:tr>
              <a:tr h="29892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Cross-Validation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10-fold stratified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80/20 split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166909945"/>
                  </a:ext>
                </a:extLst>
              </a:tr>
              <a:tr h="29892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Calibration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Isotonic + Platt Scaling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Not emphasized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2331928342"/>
                  </a:ext>
                </a:extLst>
              </a:tr>
              <a:tr h="38506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Explainability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SHAP + LIME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Limited (mainly performance-based)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387694899"/>
                  </a:ext>
                </a:extLst>
              </a:tr>
              <a:tr h="6516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Novelty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Dual-modality comparative framework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Bengali low-resource transformer modeling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24" marR="58624" marT="0" marB="0" anchor="ctr"/>
                </a:tc>
                <a:extLst>
                  <a:ext uri="{0D108BD9-81ED-4DB2-BD59-A6C34878D82A}">
                    <a16:rowId xmlns:a16="http://schemas.microsoft.com/office/drawing/2014/main" val="3352404813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49796DE-5336-E3F4-9F75-A4FF9BC3D839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96511-6773-8AD8-33BF-D7D236006F25}"/>
              </a:ext>
            </a:extLst>
          </p:cNvPr>
          <p:cNvSpPr txBox="1"/>
          <p:nvPr/>
        </p:nvSpPr>
        <p:spPr>
          <a:xfrm>
            <a:off x="1016343" y="838200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Table: Summary of Our Approach</a:t>
            </a:r>
          </a:p>
        </p:txBody>
      </p:sp>
    </p:spTree>
    <p:extLst>
      <p:ext uri="{BB962C8B-B14F-4D97-AF65-F5344CB8AC3E}">
        <p14:creationId xmlns:p14="http://schemas.microsoft.com/office/powerpoint/2010/main" val="26872885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20FB-0E63-411F-5240-61D31299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8B92-6087-AD83-5EA0-58B43EA4B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7612136-8C0B-2F29-2E8C-366E232A4A2E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A0C9322-4329-A4C9-0341-D5C8024E3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15E0106-81DB-CC6C-141F-32DEC1942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BA7F37-C5D7-4B01-99BB-5C04F6402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488413"/>
              </p:ext>
            </p:extLst>
          </p:nvPr>
        </p:nvGraphicFramePr>
        <p:xfrm>
          <a:off x="723900" y="1346326"/>
          <a:ext cx="7696199" cy="4546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8878">
                  <a:extLst>
                    <a:ext uri="{9D8B030D-6E8A-4147-A177-3AD203B41FA5}">
                      <a16:colId xmlns:a16="http://schemas.microsoft.com/office/drawing/2014/main" val="1500636815"/>
                    </a:ext>
                  </a:extLst>
                </a:gridCol>
                <a:gridCol w="1202323">
                  <a:extLst>
                    <a:ext uri="{9D8B030D-6E8A-4147-A177-3AD203B41FA5}">
                      <a16:colId xmlns:a16="http://schemas.microsoft.com/office/drawing/2014/main" val="187412995"/>
                    </a:ext>
                  </a:extLst>
                </a:gridCol>
                <a:gridCol w="1220555">
                  <a:extLst>
                    <a:ext uri="{9D8B030D-6E8A-4147-A177-3AD203B41FA5}">
                      <a16:colId xmlns:a16="http://schemas.microsoft.com/office/drawing/2014/main" val="1879498199"/>
                    </a:ext>
                  </a:extLst>
                </a:gridCol>
                <a:gridCol w="1435993">
                  <a:extLst>
                    <a:ext uri="{9D8B030D-6E8A-4147-A177-3AD203B41FA5}">
                      <a16:colId xmlns:a16="http://schemas.microsoft.com/office/drawing/2014/main" val="2563629102"/>
                    </a:ext>
                  </a:extLst>
                </a:gridCol>
                <a:gridCol w="2908450">
                  <a:extLst>
                    <a:ext uri="{9D8B030D-6E8A-4147-A177-3AD203B41FA5}">
                      <a16:colId xmlns:a16="http://schemas.microsoft.com/office/drawing/2014/main" val="226286206"/>
                    </a:ext>
                  </a:extLst>
                </a:gridCol>
              </a:tblGrid>
              <a:tr h="15032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Study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 Source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Methodology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Key Results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Comparison with Our Study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extLst>
                  <a:ext uri="{0D108BD9-81ED-4DB2-BD59-A6C34878D82A}">
                    <a16:rowId xmlns:a16="http://schemas.microsoft.com/office/drawing/2014/main" val="2675585905"/>
                  </a:ext>
                </a:extLst>
              </a:tr>
              <a:tr h="63848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Haq et al. (2022)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Bangladeshi university students (PHQ-9 &amp; GAD-7)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Traditional ML models (Random Forest, SVM)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Random Forest achieved the highest accuracy for depression prediction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This research applies to the same setting of population. Our methodology is better than that of our study because we introduce XGBoost, stratified cross-validation, probability calibration, and SHAP/LIME-generated interpretability.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extLst>
                  <a:ext uri="{0D108BD9-81ED-4DB2-BD59-A6C34878D82A}">
                    <a16:rowId xmlns:a16="http://schemas.microsoft.com/office/drawing/2014/main" val="3859386248"/>
                  </a:ext>
                </a:extLst>
              </a:tr>
              <a:tr h="55712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Glavin et al. (2022, 2023)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PHQ-9 datasets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Feature optimization and item selection using ML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Optimized PHQ-9 item combinations improved screening efficiency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They base their work on the choice of fewer PHQ-9 items. Compared to that, our study extends the modeling by applying full-feature training and engineered symptom grouping and risk indicators.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extLst>
                  <a:ext uri="{0D108BD9-81ED-4DB2-BD59-A6C34878D82A}">
                    <a16:rowId xmlns:a16="http://schemas.microsoft.com/office/drawing/2014/main" val="222045990"/>
                  </a:ext>
                </a:extLst>
              </a:tr>
              <a:tr h="55712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Alves et al. (2025)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PHQ-9 + clinical notes (EMR)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Ensemble ML combining structured and unstructured data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High AUC values and scalable automated screening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Here our activity is the only one that conducts a direct comparative study of structured PHQ-9 ML and Bengali social media NLP in one unified framework which makes our approach more robust.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extLst>
                  <a:ext uri="{0D108BD9-81ED-4DB2-BD59-A6C34878D82A}">
                    <a16:rowId xmlns:a16="http://schemas.microsoft.com/office/drawing/2014/main" val="232281242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DF375-A658-D00A-2922-B80A48F497D1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9A388-19D1-54F2-792B-69B7612DA108}"/>
              </a:ext>
            </a:extLst>
          </p:cNvPr>
          <p:cNvSpPr txBox="1"/>
          <p:nvPr/>
        </p:nvSpPr>
        <p:spPr>
          <a:xfrm>
            <a:off x="1016343" y="838200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Table: Comparative Study with Previous Works</a:t>
            </a:r>
          </a:p>
        </p:txBody>
      </p:sp>
    </p:spTree>
    <p:extLst>
      <p:ext uri="{BB962C8B-B14F-4D97-AF65-F5344CB8AC3E}">
        <p14:creationId xmlns:p14="http://schemas.microsoft.com/office/powerpoint/2010/main" val="1787639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9752-4513-1B8C-F7AD-CD6A462E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7A8F-28ED-CBFC-D4EE-57D76B568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71D53C4-C6D8-B304-7C91-34681097E575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EF8DEDC-B374-966F-C317-A7E787BB0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D990EE8D-A139-0717-8981-61CDE661D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72D12D-E209-0326-8D07-5580BAF09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777031"/>
              </p:ext>
            </p:extLst>
          </p:nvPr>
        </p:nvGraphicFramePr>
        <p:xfrm>
          <a:off x="723900" y="1524000"/>
          <a:ext cx="7696199" cy="4546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8878">
                  <a:extLst>
                    <a:ext uri="{9D8B030D-6E8A-4147-A177-3AD203B41FA5}">
                      <a16:colId xmlns:a16="http://schemas.microsoft.com/office/drawing/2014/main" val="1500636815"/>
                    </a:ext>
                  </a:extLst>
                </a:gridCol>
                <a:gridCol w="1202323">
                  <a:extLst>
                    <a:ext uri="{9D8B030D-6E8A-4147-A177-3AD203B41FA5}">
                      <a16:colId xmlns:a16="http://schemas.microsoft.com/office/drawing/2014/main" val="187412995"/>
                    </a:ext>
                  </a:extLst>
                </a:gridCol>
                <a:gridCol w="1220555">
                  <a:extLst>
                    <a:ext uri="{9D8B030D-6E8A-4147-A177-3AD203B41FA5}">
                      <a16:colId xmlns:a16="http://schemas.microsoft.com/office/drawing/2014/main" val="1879498199"/>
                    </a:ext>
                  </a:extLst>
                </a:gridCol>
                <a:gridCol w="1435993">
                  <a:extLst>
                    <a:ext uri="{9D8B030D-6E8A-4147-A177-3AD203B41FA5}">
                      <a16:colId xmlns:a16="http://schemas.microsoft.com/office/drawing/2014/main" val="2563629102"/>
                    </a:ext>
                  </a:extLst>
                </a:gridCol>
                <a:gridCol w="2908450">
                  <a:extLst>
                    <a:ext uri="{9D8B030D-6E8A-4147-A177-3AD203B41FA5}">
                      <a16:colId xmlns:a16="http://schemas.microsoft.com/office/drawing/2014/main" val="226286206"/>
                    </a:ext>
                  </a:extLst>
                </a:gridCol>
              </a:tblGrid>
              <a:tr h="15032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Study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 Source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Methodology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Key Results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Comparison with Our Study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extLst>
                  <a:ext uri="{0D108BD9-81ED-4DB2-BD59-A6C34878D82A}">
                    <a16:rowId xmlns:a16="http://schemas.microsoft.com/office/drawing/2014/main" val="2675585905"/>
                  </a:ext>
                </a:extLst>
              </a:tr>
              <a:tr h="63848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Colledani et al. (2024)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PHQ-9 + demographics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Decision Tree models for personalized assessment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Clinically interpretable decision paths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They are concerned with decision tree interpretability. Our results in </a:t>
                      </a:r>
                      <a:r>
                        <a:rPr lang="en-US" sz="1200" dirty="0" err="1">
                          <a:effectLst/>
                        </a:rPr>
                        <a:t>XGBoost</a:t>
                      </a:r>
                      <a:r>
                        <a:rPr lang="en-US" sz="1200" dirty="0">
                          <a:effectLst/>
                        </a:rPr>
                        <a:t> (96.35% accuracy) perform better on our study but we try to explain what happens using SHAP and LIME.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extLst>
                  <a:ext uri="{0D108BD9-81ED-4DB2-BD59-A6C34878D82A}">
                    <a16:rowId xmlns:a16="http://schemas.microsoft.com/office/drawing/2014/main" val="3859386248"/>
                  </a:ext>
                </a:extLst>
              </a:tr>
              <a:tr h="55712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Hossain et al. (2022)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Bengali Facebook posts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LIWC + Random Forest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Identified depressive linguistic markers successfully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Their effort validates pointers of linguistic depression in Bengali. We promote it with LSTM and </a:t>
                      </a:r>
                      <a:r>
                        <a:rPr lang="en-US" sz="1200" dirty="0" err="1">
                          <a:effectLst/>
                        </a:rPr>
                        <a:t>mBERT</a:t>
                      </a:r>
                      <a:r>
                        <a:rPr lang="en-US" sz="1200" dirty="0">
                          <a:effectLst/>
                        </a:rPr>
                        <a:t>, and the stacked ensemble technique, and obtain 95.78% accuracy.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extLst>
                  <a:ext uri="{0D108BD9-81ED-4DB2-BD59-A6C34878D82A}">
                    <a16:rowId xmlns:a16="http://schemas.microsoft.com/office/drawing/2014/main" val="222045990"/>
                  </a:ext>
                </a:extLst>
              </a:tr>
              <a:tr h="55712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Skaik (2021)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Social media posts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Linguistic feature analysis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Population-level depression prediction was feasible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The main purpose of this work is to show the possibility of it. Our work offers a conscientious comparative analysis through use of transformer-based contextual modeling, as well as a more vigorous application of experimental validation to provide solid and dependable outcomes.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extLst>
                  <a:ext uri="{0D108BD9-81ED-4DB2-BD59-A6C34878D82A}">
                    <a16:rowId xmlns:a16="http://schemas.microsoft.com/office/drawing/2014/main" val="232281242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3833C-F1B3-E610-1475-8B0A4835EBC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C1C4E-14D7-4A03-4448-EA9D1AED6C09}"/>
              </a:ext>
            </a:extLst>
          </p:cNvPr>
          <p:cNvSpPr txBox="1"/>
          <p:nvPr/>
        </p:nvSpPr>
        <p:spPr>
          <a:xfrm>
            <a:off x="1016343" y="838200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Table: Comparative Study with Previous Works (Contd.)</a:t>
            </a:r>
          </a:p>
        </p:txBody>
      </p:sp>
    </p:spTree>
    <p:extLst>
      <p:ext uri="{BB962C8B-B14F-4D97-AF65-F5344CB8AC3E}">
        <p14:creationId xmlns:p14="http://schemas.microsoft.com/office/powerpoint/2010/main" val="2186590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9D11-22E4-B9F8-D1E7-983213BF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2B15-A005-0307-8EBC-C8BBFFBA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Result and Discussion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86A3EC-B414-A4E5-2A5D-002C918B245D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EA58E4F-6EC6-EEFF-2EF0-4FEFDC6FF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5115354-3F43-56E4-0009-A303610FD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2C4632-F51D-9D24-57F1-A170F7559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453179"/>
              </p:ext>
            </p:extLst>
          </p:nvPr>
        </p:nvGraphicFramePr>
        <p:xfrm>
          <a:off x="723900" y="1447800"/>
          <a:ext cx="7696199" cy="26553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8878">
                  <a:extLst>
                    <a:ext uri="{9D8B030D-6E8A-4147-A177-3AD203B41FA5}">
                      <a16:colId xmlns:a16="http://schemas.microsoft.com/office/drawing/2014/main" val="1500636815"/>
                    </a:ext>
                  </a:extLst>
                </a:gridCol>
                <a:gridCol w="1202323">
                  <a:extLst>
                    <a:ext uri="{9D8B030D-6E8A-4147-A177-3AD203B41FA5}">
                      <a16:colId xmlns:a16="http://schemas.microsoft.com/office/drawing/2014/main" val="187412995"/>
                    </a:ext>
                  </a:extLst>
                </a:gridCol>
                <a:gridCol w="1220555">
                  <a:extLst>
                    <a:ext uri="{9D8B030D-6E8A-4147-A177-3AD203B41FA5}">
                      <a16:colId xmlns:a16="http://schemas.microsoft.com/office/drawing/2014/main" val="1879498199"/>
                    </a:ext>
                  </a:extLst>
                </a:gridCol>
                <a:gridCol w="1435993">
                  <a:extLst>
                    <a:ext uri="{9D8B030D-6E8A-4147-A177-3AD203B41FA5}">
                      <a16:colId xmlns:a16="http://schemas.microsoft.com/office/drawing/2014/main" val="2563629102"/>
                    </a:ext>
                  </a:extLst>
                </a:gridCol>
                <a:gridCol w="2908450">
                  <a:extLst>
                    <a:ext uri="{9D8B030D-6E8A-4147-A177-3AD203B41FA5}">
                      <a16:colId xmlns:a16="http://schemas.microsoft.com/office/drawing/2014/main" val="226286206"/>
                    </a:ext>
                  </a:extLst>
                </a:gridCol>
              </a:tblGrid>
              <a:tr h="15032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Study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 Source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Methodology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Key Results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Comparison with Our Study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 anchor="ctr"/>
                </a:tc>
                <a:extLst>
                  <a:ext uri="{0D108BD9-81ED-4DB2-BD59-A6C34878D82A}">
                    <a16:rowId xmlns:a16="http://schemas.microsoft.com/office/drawing/2014/main" val="2675585905"/>
                  </a:ext>
                </a:extLst>
              </a:tr>
              <a:tr h="55660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Razavi et al. (2020)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Smartphone and social metadata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ML classification models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Passive monitoring for depression detection was feasible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Their work is concerned with passive behavioral metadata. Our research is concerned with linguistic content and directly incorporates alignment with PHQ-9 based clinical screening.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extLst>
                  <a:ext uri="{0D108BD9-81ED-4DB2-BD59-A6C34878D82A}">
                    <a16:rowId xmlns:a16="http://schemas.microsoft.com/office/drawing/2014/main" val="3703073293"/>
                  </a:ext>
                </a:extLst>
              </a:tr>
              <a:tr h="39440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Kim &amp; Lee (2021)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PHQ-9 validated digital datasets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ML and BERT-based approaches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High pooled AUC values across studies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This paper summarizes the good performance of ML studies. We provide Bengali low-resource language modeling and a dual-feet comparative design.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55" marR="15255" marT="0" marB="0"/>
                </a:tc>
                <a:extLst>
                  <a:ext uri="{0D108BD9-81ED-4DB2-BD59-A6C34878D82A}">
                    <a16:rowId xmlns:a16="http://schemas.microsoft.com/office/drawing/2014/main" val="3594507944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CBC952F-1DC1-D0A5-26EE-AE9D63C7646E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924AF-B343-98F7-B180-0A61ED87B209}"/>
              </a:ext>
            </a:extLst>
          </p:cNvPr>
          <p:cNvSpPr txBox="1"/>
          <p:nvPr/>
        </p:nvSpPr>
        <p:spPr>
          <a:xfrm>
            <a:off x="1016343" y="838200"/>
            <a:ext cx="711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Table: Comparative Study with Previous Works (Contd.)</a:t>
            </a:r>
          </a:p>
        </p:txBody>
      </p:sp>
    </p:spTree>
    <p:extLst>
      <p:ext uri="{BB962C8B-B14F-4D97-AF65-F5344CB8AC3E}">
        <p14:creationId xmlns:p14="http://schemas.microsoft.com/office/powerpoint/2010/main" val="37211350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E46E-4535-DBE7-EC30-5216AD23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1ADE-EB05-1B64-DA19-225882F4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4184-BD1D-75E5-8512-1288A1613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6388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cs typeface="Times New Roman" panose="02020603050405020304" pitchFamily="18" charset="0"/>
              </a:rPr>
              <a:t>Dataset limited to Bangladeshi university students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Relies on self-reported and manually annotated data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Modeled as binary classification (no severity gradation)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Cross-sectional design (no longitudinal tracking)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NLP limited to short Bengali texts 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Transformer models require GPU resources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4143AF1-B671-C7B1-3A28-AFB2F0F00D7F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E7ED07-35EF-E87E-DD9E-2606B5FC9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2ED71842-19FD-6E21-8C7C-185A96128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69230049-110B-4670-DB88-E9DEAC14A37F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393040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B1D7-E5CC-021F-6D5F-B830AA81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8836-C641-58A4-564E-3FD0AFB4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CFCE6-25C6-0279-7625-4DE1EF53E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6388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cs typeface="Times New Roman" panose="02020603050405020304" pitchFamily="18" charset="0"/>
              </a:rPr>
              <a:t>Conducted a direct comparative study between PHQ-9–based ML and Bengali NLP–based depression detection</a:t>
            </a:r>
          </a:p>
          <a:p>
            <a:pPr algn="just"/>
            <a:r>
              <a:rPr lang="en-US" sz="2400" dirty="0" err="1">
                <a:cs typeface="Times New Roman" panose="02020603050405020304" pitchFamily="18" charset="0"/>
              </a:rPr>
              <a:t>XGBoost</a:t>
            </a:r>
            <a:r>
              <a:rPr lang="en-US" sz="2400" dirty="0">
                <a:cs typeface="Times New Roman" panose="02020603050405020304" pitchFamily="18" charset="0"/>
              </a:rPr>
              <a:t> (PHQ-9) achieved the highest performance (96.35% accuracy, 0.9944 AUC-ROC) with strong calibration and clear interpretability using SHAP and LIME.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The Bengali NLP Ensemble achieved 95.78% accuracy, effectively capturing depressive linguistic patterns from unstructured text.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PHQ-9 models - Clinically grounded &amp; interpretable 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NLP models - Scalable &amp; passive monitoring capable 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Proposed a dual-modality framework integrating both approaches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Publicly released two self-collected datasets for reproducibility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F8D44A6-FA56-122C-777F-6B879521CE4F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DD61FA6-B1CA-56E7-A7C9-482D0207A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CA814A15-3AF3-2DD6-6A0C-CD4C3F1EF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62F8C-0187-4665-5AA5-E530B9F8BA18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610610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r>
              <a:rPr lang="en-US" sz="1800" dirty="0"/>
              <a:t>Abdullah, M.A.I.A. and Ahmed, S., 2026. </a:t>
            </a:r>
            <a:r>
              <a:rPr lang="en-US" sz="1800" i="1" dirty="0"/>
              <a:t>PHQ-9 Annotated Social Media Posts Dataset for Automated Depression Severity Assessment</a:t>
            </a:r>
            <a:r>
              <a:rPr lang="en-US" sz="1800" dirty="0"/>
              <a:t>. Mendeley Data, V1. Available at: https://doi.org/10.17632/fs2r7zvmj3.1</a:t>
            </a:r>
          </a:p>
          <a:p>
            <a:r>
              <a:rPr lang="en-US" sz="1800" dirty="0"/>
              <a:t>Alves, P., Marci, C.D., Cohen-</a:t>
            </a:r>
            <a:r>
              <a:rPr lang="en-US" sz="1800" dirty="0" err="1"/>
              <a:t>Stavi</a:t>
            </a:r>
            <a:r>
              <a:rPr lang="en-US" sz="1800" dirty="0"/>
              <a:t>, C.J., Whelan, K.M. and </a:t>
            </a:r>
            <a:r>
              <a:rPr lang="en-US" sz="1800" dirty="0" err="1"/>
              <a:t>Boussios</a:t>
            </a:r>
            <a:r>
              <a:rPr lang="en-US" sz="1800" dirty="0"/>
              <a:t>, C., 2025. A machine learning model using clinical notes to estimate PHQ-9 symptom severity scores in depressed patients. </a:t>
            </a:r>
            <a:r>
              <a:rPr lang="en-US" sz="1800" i="1" dirty="0"/>
              <a:t>Journal of Affective Disorders</a:t>
            </a:r>
            <a:r>
              <a:rPr lang="en-US" sz="1800" dirty="0"/>
              <a:t>, 376, pp.216–224.</a:t>
            </a:r>
          </a:p>
          <a:p>
            <a:r>
              <a:rPr lang="en-US" sz="1800" dirty="0"/>
              <a:t>Dey, S., </a:t>
            </a:r>
            <a:r>
              <a:rPr lang="en-US" sz="1800" dirty="0" err="1"/>
              <a:t>Nawshin</a:t>
            </a:r>
            <a:r>
              <a:rPr lang="en-US" sz="1800" dirty="0"/>
              <a:t>, A.T., Hossain, A. and Rahman, R.M., 2022. Machine learning combined with PHQ-9 for analyzing depression in Bangladeshi metropolitan areas. In: </a:t>
            </a:r>
            <a:r>
              <a:rPr lang="en-US" sz="1800" i="1" dirty="0"/>
              <a:t>Proceedings of the IEEE Conference</a:t>
            </a:r>
            <a:r>
              <a:rPr lang="en-US" sz="1800" dirty="0"/>
              <a:t>. Available at: </a:t>
            </a:r>
            <a:r>
              <a:rPr lang="en-US" sz="1800" dirty="0">
                <a:hlinkClick r:id="rId2"/>
              </a:rPr>
              <a:t>https://doi.org/10.1109/is57118.2022.10019625</a:t>
            </a:r>
            <a:endParaRPr lang="en-US" sz="1800" dirty="0"/>
          </a:p>
          <a:p>
            <a:r>
              <a:rPr lang="en-US" sz="1800" dirty="0"/>
              <a:t>Glavin, D., Maekawa, E., Grua, E.M., Nakamura, C.A., </a:t>
            </a:r>
            <a:r>
              <a:rPr lang="en-US" sz="1800" dirty="0" err="1"/>
              <a:t>Scazufca</a:t>
            </a:r>
            <a:r>
              <a:rPr lang="en-US" sz="1800" dirty="0"/>
              <a:t>, M., Araya, R., Peters, T.J., Hollingworth, W. and van de Ven, P., 2022. Other PHQ-9 item pairings are better than the PHQ-2: A machine learning analysis. </a:t>
            </a:r>
            <a:r>
              <a:rPr lang="en-US" sz="1800" i="1" dirty="0"/>
              <a:t>Procedia Computer Science</a:t>
            </a:r>
            <a:r>
              <a:rPr lang="en-US" sz="1800" dirty="0"/>
              <a:t>, 206, pp.101–110.</a:t>
            </a:r>
          </a:p>
          <a:p>
            <a:r>
              <a:rPr lang="en-US" sz="1800" dirty="0"/>
              <a:t>Haq, I., Nayan, M.H., Uddin, M.G., Hossain, M., Alam, M., Zinnia, M., Rahman, M., Ria, R. and Haq Methun, M., 2022. Comparison of the performance of machine learning-based algorithms for predicting depression and anxiety among university students in Bangladesh. </a:t>
            </a:r>
            <a:r>
              <a:rPr lang="en-US" sz="1800" i="1" dirty="0"/>
              <a:t>Asian Journal of Social Health and Behavior</a:t>
            </a:r>
            <a:r>
              <a:rPr lang="en-US" sz="1800" dirty="0"/>
              <a:t>, 5(2), p.75.</a:t>
            </a:r>
          </a:p>
          <a:p>
            <a:r>
              <a:rPr lang="en-US" sz="1800" dirty="0"/>
              <a:t>Miraz, M.A.I.A., Mondal, S. and Ahmed, S., 2025. </a:t>
            </a:r>
            <a:r>
              <a:rPr lang="en-US" sz="1800" i="1" dirty="0"/>
              <a:t>PHQ-9 Student Depression Dataset</a:t>
            </a:r>
            <a:r>
              <a:rPr lang="en-US" sz="1800" dirty="0"/>
              <a:t>. Mendeley Data, V6. Available at: https://doi.org/10.17632/kkzjk253cy.6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1CE19-50CE-433D-37A3-6504749ECD17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9727820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D17DC634-FA5B-433B-9756-6A0FC7DF17BD}"/>
              </a:ext>
            </a:extLst>
          </p:cNvPr>
          <p:cNvSpPr txBox="1">
            <a:spLocks/>
          </p:cNvSpPr>
          <p:nvPr/>
        </p:nvSpPr>
        <p:spPr>
          <a:xfrm>
            <a:off x="1752600" y="2933700"/>
            <a:ext cx="5638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PHQ-9 Methodology (Traditional ML) Pipeline</a:t>
            </a:r>
            <a:endParaRPr lang="en-US" sz="2800" dirty="0">
              <a:latin typeface="Forte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3131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63EB3-E9C0-4348-93D5-66493F9915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633" y="1524000"/>
            <a:ext cx="5782734" cy="36394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45E614-6465-448A-9666-5E4BD3906BAC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Data Acquisition &amp; Loading</a:t>
            </a:r>
          </a:p>
        </p:txBody>
      </p:sp>
    </p:spTree>
    <p:extLst>
      <p:ext uri="{BB962C8B-B14F-4D97-AF65-F5344CB8AC3E}">
        <p14:creationId xmlns:p14="http://schemas.microsoft.com/office/powerpoint/2010/main" val="4675022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AC5E4F-80F7-407C-BAE2-C4B9C6A8F9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86" y="1990085"/>
            <a:ext cx="7584281" cy="287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3DA138-29D9-4999-B46F-2E5515A58DA9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2235980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A1E79F-F58E-45B9-8E4E-3BBCE87FCA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82" y="1885380"/>
            <a:ext cx="7259836" cy="30872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F2D1FD-6C1A-4074-9C91-B61B05C5999F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Data Preprocessing (Structured PHQ-9)</a:t>
            </a:r>
          </a:p>
        </p:txBody>
      </p:sp>
    </p:spTree>
    <p:extLst>
      <p:ext uri="{BB962C8B-B14F-4D97-AF65-F5344CB8AC3E}">
        <p14:creationId xmlns:p14="http://schemas.microsoft.com/office/powerpoint/2010/main" val="38047146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C1EE46-902B-497E-B6CE-FCE955ECB0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30" y="1676400"/>
            <a:ext cx="7156939" cy="33756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8A190C-0128-40F6-A22F-FF64F0DFD245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Feature Engineering (PHQ-9)</a:t>
            </a:r>
          </a:p>
        </p:txBody>
      </p:sp>
    </p:spTree>
    <p:extLst>
      <p:ext uri="{BB962C8B-B14F-4D97-AF65-F5344CB8AC3E}">
        <p14:creationId xmlns:p14="http://schemas.microsoft.com/office/powerpoint/2010/main" val="1134442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8663E6-D9DA-4908-B9A5-0C232F363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8" y="1524000"/>
            <a:ext cx="6400800" cy="3400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42B5D7-86D3-4A81-94C5-CB10E58BB2C5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Correlation Analysis</a:t>
            </a:r>
          </a:p>
        </p:txBody>
      </p:sp>
    </p:spTree>
    <p:extLst>
      <p:ext uri="{BB962C8B-B14F-4D97-AF65-F5344CB8AC3E}">
        <p14:creationId xmlns:p14="http://schemas.microsoft.com/office/powerpoint/2010/main" val="5073633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022BC4-CA44-403E-987D-78763B7D82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366" y="1251137"/>
            <a:ext cx="3277265" cy="43557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3BD1F4-3C3D-4D02-868D-8026F56C89C2}"/>
              </a:ext>
            </a:extLst>
          </p:cNvPr>
          <p:cNvSpPr txBox="1"/>
          <p:nvPr/>
        </p:nvSpPr>
        <p:spPr>
          <a:xfrm>
            <a:off x="876300" y="5866811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Data Preparation for Training</a:t>
            </a:r>
          </a:p>
        </p:txBody>
      </p:sp>
    </p:spTree>
    <p:extLst>
      <p:ext uri="{BB962C8B-B14F-4D97-AF65-F5344CB8AC3E}">
        <p14:creationId xmlns:p14="http://schemas.microsoft.com/office/powerpoint/2010/main" val="2881317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DD5177-0D50-4FAD-A799-D8CD7702B6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54" y="2100914"/>
            <a:ext cx="8026976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B72629-1FC4-48FF-BDF6-EF468792CB38}"/>
              </a:ext>
            </a:extLst>
          </p:cNvPr>
          <p:cNvSpPr txBox="1"/>
          <p:nvPr/>
        </p:nvSpPr>
        <p:spPr>
          <a:xfrm>
            <a:off x="1116522" y="4736602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Traditional ML Model Training (PHQ-9)</a:t>
            </a:r>
          </a:p>
        </p:txBody>
      </p:sp>
    </p:spTree>
    <p:extLst>
      <p:ext uri="{BB962C8B-B14F-4D97-AF65-F5344CB8AC3E}">
        <p14:creationId xmlns:p14="http://schemas.microsoft.com/office/powerpoint/2010/main" val="4257206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D601B5-F32B-4553-A427-12E3FF84C5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51" y="1657925"/>
            <a:ext cx="7981805" cy="35421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8ACAFB-CE5D-47B0-8621-FD242EDA42B8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26470507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46974-415B-4438-8AF7-D44027CA73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92" y="1917208"/>
            <a:ext cx="7350816" cy="30235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A4BE53-AF3C-45C4-96A7-B3E77A75B69E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Model Optimization</a:t>
            </a:r>
          </a:p>
        </p:txBody>
      </p:sp>
    </p:spTree>
    <p:extLst>
      <p:ext uri="{BB962C8B-B14F-4D97-AF65-F5344CB8AC3E}">
        <p14:creationId xmlns:p14="http://schemas.microsoft.com/office/powerpoint/2010/main" val="20238134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56347"/>
            <a:ext cx="4876800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(Traditional ML)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EFDF5-1883-4709-B00B-10278C414C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19" y="1828800"/>
            <a:ext cx="7444762" cy="29620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F331A5-FF04-48C6-969A-3F4C69E4F47E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Explainable AI</a:t>
            </a:r>
          </a:p>
        </p:txBody>
      </p:sp>
    </p:spTree>
    <p:extLst>
      <p:ext uri="{BB962C8B-B14F-4D97-AF65-F5344CB8AC3E}">
        <p14:creationId xmlns:p14="http://schemas.microsoft.com/office/powerpoint/2010/main" val="41290844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D17DC634-FA5B-433B-9756-6A0FC7DF17BD}"/>
              </a:ext>
            </a:extLst>
          </p:cNvPr>
          <p:cNvSpPr txBox="1">
            <a:spLocks/>
          </p:cNvSpPr>
          <p:nvPr/>
        </p:nvSpPr>
        <p:spPr>
          <a:xfrm>
            <a:off x="1752600" y="2933700"/>
            <a:ext cx="5638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PHQ-9 Methodology (NLP) Pipeline</a:t>
            </a:r>
            <a:endParaRPr lang="en-US" sz="2800" dirty="0">
              <a:latin typeface="Forte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9912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(NLP)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D3D3DD-EFEB-4C3F-8187-7EC2619667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73033"/>
            <a:ext cx="2271268" cy="518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41F660-3BF6-4CA2-9AA9-8D544D6C3ABC}"/>
              </a:ext>
            </a:extLst>
          </p:cNvPr>
          <p:cNvSpPr txBox="1"/>
          <p:nvPr/>
        </p:nvSpPr>
        <p:spPr>
          <a:xfrm>
            <a:off x="1072105" y="2438400"/>
            <a:ext cx="3467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Fig: Dataset Construction Module</a:t>
            </a:r>
          </a:p>
        </p:txBody>
      </p:sp>
    </p:spTree>
    <p:extLst>
      <p:ext uri="{BB962C8B-B14F-4D97-AF65-F5344CB8AC3E}">
        <p14:creationId xmlns:p14="http://schemas.microsoft.com/office/powerpoint/2010/main" val="20400200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(NLP)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3368F-9B63-4523-9EC7-8FDB13CB44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91" y="2056128"/>
            <a:ext cx="7556939" cy="30866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BC3287-589B-48EF-A21A-7098B050910D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Text Preprocessing Module</a:t>
            </a:r>
          </a:p>
        </p:txBody>
      </p:sp>
    </p:spTree>
    <p:extLst>
      <p:ext uri="{BB962C8B-B14F-4D97-AF65-F5344CB8AC3E}">
        <p14:creationId xmlns:p14="http://schemas.microsoft.com/office/powerpoint/2010/main" val="248681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(NLP)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F82FAB-7344-46DD-9CD4-508513F04C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320149"/>
            <a:ext cx="6776934" cy="46151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AD53E7-64A0-47EE-B702-33DA6E3F6C46}"/>
              </a:ext>
            </a:extLst>
          </p:cNvPr>
          <p:cNvSpPr txBox="1"/>
          <p:nvPr/>
        </p:nvSpPr>
        <p:spPr>
          <a:xfrm>
            <a:off x="821303" y="5935327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Feature Representation Module</a:t>
            </a:r>
          </a:p>
        </p:txBody>
      </p:sp>
    </p:spTree>
    <p:extLst>
      <p:ext uri="{BB962C8B-B14F-4D97-AF65-F5344CB8AC3E}">
        <p14:creationId xmlns:p14="http://schemas.microsoft.com/office/powerpoint/2010/main" val="14387559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(NLP)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7EB95-5906-4FE4-A444-20D2BD5FD7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172819"/>
            <a:ext cx="2016685" cy="5050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7077D0-BDEB-493E-8AB0-468E25081F5B}"/>
              </a:ext>
            </a:extLst>
          </p:cNvPr>
          <p:cNvSpPr txBox="1"/>
          <p:nvPr/>
        </p:nvSpPr>
        <p:spPr>
          <a:xfrm>
            <a:off x="661086" y="2743200"/>
            <a:ext cx="434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Random Forest (TF-IDF) Module</a:t>
            </a:r>
          </a:p>
        </p:txBody>
      </p:sp>
    </p:spTree>
    <p:extLst>
      <p:ext uri="{BB962C8B-B14F-4D97-AF65-F5344CB8AC3E}">
        <p14:creationId xmlns:p14="http://schemas.microsoft.com/office/powerpoint/2010/main" val="39846976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(NLP)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151FE-53A3-415B-BDBB-44636FF3ED81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LSTM Deep Learning Module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15386A-EFCC-4CCB-A72F-D4DD5C7100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93" y="2280228"/>
            <a:ext cx="7848600" cy="229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968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(NLP)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8E69C-4522-4AAB-AEFC-CBBE7E6492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8" y="2079415"/>
            <a:ext cx="7695194" cy="15019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551688-2D2E-4C71-AB40-A3CBDBF92C6F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</a:t>
            </a:r>
            <a:r>
              <a:rPr lang="en-US" sz="2000" dirty="0" err="1"/>
              <a:t>mBERT</a:t>
            </a:r>
            <a:r>
              <a:rPr lang="en-US" sz="2000" dirty="0"/>
              <a:t> Transformer Module</a:t>
            </a:r>
          </a:p>
        </p:txBody>
      </p:sp>
    </p:spTree>
    <p:extLst>
      <p:ext uri="{BB962C8B-B14F-4D97-AF65-F5344CB8AC3E}">
        <p14:creationId xmlns:p14="http://schemas.microsoft.com/office/powerpoint/2010/main" val="42483884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(NLP)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A1B8E-345D-4FF2-AAB9-83C8D6F267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04" y="1458274"/>
            <a:ext cx="7598592" cy="42190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E333ED-91AF-411E-89D3-788EF9361CE2}"/>
              </a:ext>
            </a:extLst>
          </p:cNvPr>
          <p:cNvSpPr txBox="1"/>
          <p:nvPr/>
        </p:nvSpPr>
        <p:spPr>
          <a:xfrm>
            <a:off x="876300" y="5907888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Stacked Ensemble (Meta-Learner) Module</a:t>
            </a:r>
          </a:p>
        </p:txBody>
      </p:sp>
    </p:spTree>
    <p:extLst>
      <p:ext uri="{BB962C8B-B14F-4D97-AF65-F5344CB8AC3E}">
        <p14:creationId xmlns:p14="http://schemas.microsoft.com/office/powerpoint/2010/main" val="24966325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PHQ-9 Methodology (NLP) Pipeline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8AFA95-1C33-4AAD-A9AC-612CF3324C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98322"/>
            <a:ext cx="7162800" cy="41012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79E48F-DED4-44B0-BF76-1CC9878C191A}"/>
              </a:ext>
            </a:extLst>
          </p:cNvPr>
          <p:cNvSpPr txBox="1"/>
          <p:nvPr/>
        </p:nvSpPr>
        <p:spPr>
          <a:xfrm>
            <a:off x="742948" y="5714391"/>
            <a:ext cx="704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Evaluation &amp; Deployment Module</a:t>
            </a:r>
          </a:p>
        </p:txBody>
      </p:sp>
    </p:spTree>
    <p:extLst>
      <p:ext uri="{BB962C8B-B14F-4D97-AF65-F5344CB8AC3E}">
        <p14:creationId xmlns:p14="http://schemas.microsoft.com/office/powerpoint/2010/main" val="35311826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D17DC634-FA5B-433B-9756-6A0FC7DF17BD}"/>
              </a:ext>
            </a:extLst>
          </p:cNvPr>
          <p:cNvSpPr txBox="1">
            <a:spLocks/>
          </p:cNvSpPr>
          <p:nvPr/>
        </p:nvSpPr>
        <p:spPr>
          <a:xfrm>
            <a:off x="1752600" y="2933700"/>
            <a:ext cx="5638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Clinical Decision System Support Workflow for Model Integration</a:t>
            </a:r>
            <a:endParaRPr lang="en-US" sz="2800" dirty="0">
              <a:latin typeface="Forte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4354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Clinical Decision System Support Workflow for Model Integration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1CDF59-0255-4DED-BFCC-7EF7074854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9" y="1886478"/>
            <a:ext cx="7581902" cy="18316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AA3267-0CA5-4452-A9F9-CF9FD5043EA4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Patient Assessment Module </a:t>
            </a:r>
          </a:p>
        </p:txBody>
      </p:sp>
    </p:spTree>
    <p:extLst>
      <p:ext uri="{BB962C8B-B14F-4D97-AF65-F5344CB8AC3E}">
        <p14:creationId xmlns:p14="http://schemas.microsoft.com/office/powerpoint/2010/main" val="38106227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Clinical Decision System Support Workflow for Model Integration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20788F-CF6D-4EE0-98B3-84877F24D4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997" y="1371600"/>
            <a:ext cx="2389967" cy="4661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EF0F7B-D219-49A3-A25B-2AC271DA2A91}"/>
              </a:ext>
            </a:extLst>
          </p:cNvPr>
          <p:cNvSpPr txBox="1"/>
          <p:nvPr/>
        </p:nvSpPr>
        <p:spPr>
          <a:xfrm>
            <a:off x="876301" y="5562600"/>
            <a:ext cx="3543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Data Preprocessing Module</a:t>
            </a:r>
          </a:p>
        </p:txBody>
      </p:sp>
    </p:spTree>
    <p:extLst>
      <p:ext uri="{BB962C8B-B14F-4D97-AF65-F5344CB8AC3E}">
        <p14:creationId xmlns:p14="http://schemas.microsoft.com/office/powerpoint/2010/main" val="26844671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Clinical Decision System Support Workflow for Model Integration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DD874E-3AA4-4174-AD31-E34C029D80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036" y="1469858"/>
            <a:ext cx="5569927" cy="4267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FD7156-74B9-446F-9970-22BBCF0AB1B6}"/>
              </a:ext>
            </a:extLst>
          </p:cNvPr>
          <p:cNvSpPr txBox="1"/>
          <p:nvPr/>
        </p:nvSpPr>
        <p:spPr>
          <a:xfrm>
            <a:off x="876299" y="5983174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Machine Learning &amp; Calibration Module</a:t>
            </a:r>
          </a:p>
        </p:txBody>
      </p:sp>
    </p:spTree>
    <p:extLst>
      <p:ext uri="{BB962C8B-B14F-4D97-AF65-F5344CB8AC3E}">
        <p14:creationId xmlns:p14="http://schemas.microsoft.com/office/powerpoint/2010/main" val="12109800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Clinical Decision System Support Workflow for Model Integration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49C15-C5A2-46C0-8E23-D7ED25FD04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1905000"/>
            <a:ext cx="7848600" cy="2257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D72770-AEC6-4314-8F53-CD7C98B275D2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Risk Stratification Module</a:t>
            </a:r>
          </a:p>
        </p:txBody>
      </p:sp>
    </p:spTree>
    <p:extLst>
      <p:ext uri="{BB962C8B-B14F-4D97-AF65-F5344CB8AC3E}">
        <p14:creationId xmlns:p14="http://schemas.microsoft.com/office/powerpoint/2010/main" val="5814805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Clinical Decision System Support Workflow for Model Integration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04E425-652B-4F3E-BC51-1820D652AF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243480"/>
            <a:ext cx="3903417" cy="4800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4CAAD2-80D5-4D86-B8D5-DFC898913600}"/>
              </a:ext>
            </a:extLst>
          </p:cNvPr>
          <p:cNvSpPr txBox="1"/>
          <p:nvPr/>
        </p:nvSpPr>
        <p:spPr>
          <a:xfrm>
            <a:off x="990600" y="4648200"/>
            <a:ext cx="339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Fig: Clinical Action Module</a:t>
            </a:r>
          </a:p>
        </p:txBody>
      </p:sp>
    </p:spTree>
    <p:extLst>
      <p:ext uri="{BB962C8B-B14F-4D97-AF65-F5344CB8AC3E}">
        <p14:creationId xmlns:p14="http://schemas.microsoft.com/office/powerpoint/2010/main" val="14639456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Clinical Decision System Support Workflow for Model Integration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36D30-C029-453F-8322-412AA40C9A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641" y="1676400"/>
            <a:ext cx="5706717" cy="3962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882BD0-29A9-4681-BCFA-76B651B61545}"/>
              </a:ext>
            </a:extLst>
          </p:cNvPr>
          <p:cNvSpPr txBox="1"/>
          <p:nvPr/>
        </p:nvSpPr>
        <p:spPr>
          <a:xfrm>
            <a:off x="876299" y="5934045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</a:t>
            </a:r>
            <a:r>
              <a:rPr lang="en-US" sz="2000" dirty="0" err="1"/>
              <a:t>Explainability</a:t>
            </a:r>
            <a:r>
              <a:rPr lang="en-US" sz="2000" dirty="0"/>
              <a:t> (XAI) Module</a:t>
            </a:r>
          </a:p>
        </p:txBody>
      </p:sp>
    </p:spTree>
    <p:extLst>
      <p:ext uri="{BB962C8B-B14F-4D97-AF65-F5344CB8AC3E}">
        <p14:creationId xmlns:p14="http://schemas.microsoft.com/office/powerpoint/2010/main" val="23747382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Clinical Decision System Support Workflow for Model Integration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2DDC7-26C8-4DF3-A37C-63A6F695BA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56" y="2094638"/>
            <a:ext cx="7984836" cy="2852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67AE82-877A-4518-B740-00E4D32266FE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Clinical Report Generation Module</a:t>
            </a:r>
          </a:p>
        </p:txBody>
      </p:sp>
    </p:spTree>
    <p:extLst>
      <p:ext uri="{BB962C8B-B14F-4D97-AF65-F5344CB8AC3E}">
        <p14:creationId xmlns:p14="http://schemas.microsoft.com/office/powerpoint/2010/main" val="31120273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Clinical Decision System Support Workflow for Model Integration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9B3D6F-45D4-4714-8C13-9A8E33BCE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524000"/>
            <a:ext cx="6791918" cy="40331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3841C7-83B6-4781-A6F6-CD8C684B63B6}"/>
              </a:ext>
            </a:extLst>
          </p:cNvPr>
          <p:cNvSpPr txBox="1"/>
          <p:nvPr/>
        </p:nvSpPr>
        <p:spPr>
          <a:xfrm>
            <a:off x="876300" y="5693159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EHR Integration Module</a:t>
            </a:r>
          </a:p>
        </p:txBody>
      </p:sp>
    </p:spTree>
    <p:extLst>
      <p:ext uri="{BB962C8B-B14F-4D97-AF65-F5344CB8AC3E}">
        <p14:creationId xmlns:p14="http://schemas.microsoft.com/office/powerpoint/2010/main" val="21294666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D17DC634-FA5B-433B-9756-6A0FC7DF17BD}"/>
              </a:ext>
            </a:extLst>
          </p:cNvPr>
          <p:cNvSpPr txBox="1">
            <a:spLocks/>
          </p:cNvSpPr>
          <p:nvPr/>
        </p:nvSpPr>
        <p:spPr>
          <a:xfrm>
            <a:off x="1752600" y="2933700"/>
            <a:ext cx="5638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System Architecture for Social Media Health Monitoring</a:t>
            </a:r>
            <a:endParaRPr lang="en-US" sz="2800" dirty="0">
              <a:latin typeface="Forte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3073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System Architecture for Social Media Health Monitoring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7C2B6-5EA7-4E25-84E8-9E56B90964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24" y="1371600"/>
            <a:ext cx="6039638" cy="4383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061992-3E9F-4564-8331-80A3C287C109}"/>
              </a:ext>
            </a:extLst>
          </p:cNvPr>
          <p:cNvSpPr txBox="1"/>
          <p:nvPr/>
        </p:nvSpPr>
        <p:spPr>
          <a:xfrm>
            <a:off x="986804" y="5920066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Data Source Layer</a:t>
            </a:r>
          </a:p>
        </p:txBody>
      </p:sp>
    </p:spTree>
    <p:extLst>
      <p:ext uri="{BB962C8B-B14F-4D97-AF65-F5344CB8AC3E}">
        <p14:creationId xmlns:p14="http://schemas.microsoft.com/office/powerpoint/2010/main" val="31345810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System Architecture for Social Media Health Monitoring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57FC5-A6B0-48EB-A7C8-E10815C77A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94" y="1701985"/>
            <a:ext cx="7583366" cy="34540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90A256-FFF2-4032-AD4B-C6E5BD5BC1BA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Data Ingestion Layer</a:t>
            </a:r>
          </a:p>
        </p:txBody>
      </p:sp>
    </p:spTree>
    <p:extLst>
      <p:ext uri="{BB962C8B-B14F-4D97-AF65-F5344CB8AC3E}">
        <p14:creationId xmlns:p14="http://schemas.microsoft.com/office/powerpoint/2010/main" val="27879843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System Architecture for Social Media Health Monitoring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80CB34-3AB7-483C-8DBF-BCAFB23FC3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86" y="1992877"/>
            <a:ext cx="8294914" cy="30560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9CF4D7-3807-48C1-BC3F-57F54D0A018A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Text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8892723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System Architecture for Social Media Health Monitoring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2FB73C-63F8-475A-A32D-29AA20C8B9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76" y="2614649"/>
            <a:ext cx="8001000" cy="1628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0A2217-8B74-4DF6-898E-17DAD34C5CD4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Feature Representation Layer</a:t>
            </a:r>
          </a:p>
        </p:txBody>
      </p:sp>
    </p:spTree>
    <p:extLst>
      <p:ext uri="{BB962C8B-B14F-4D97-AF65-F5344CB8AC3E}">
        <p14:creationId xmlns:p14="http://schemas.microsoft.com/office/powerpoint/2010/main" val="25260603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System Architecture for Social Media Health Monitoring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7ECEA7-397D-4F20-AEEA-E3D191281F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79" y="2027290"/>
            <a:ext cx="8176642" cy="2803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4E1449-883C-4A24-A9B7-B278B6E837B4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Base Model Layer</a:t>
            </a:r>
          </a:p>
        </p:txBody>
      </p:sp>
    </p:spTree>
    <p:extLst>
      <p:ext uri="{BB962C8B-B14F-4D97-AF65-F5344CB8AC3E}">
        <p14:creationId xmlns:p14="http://schemas.microsoft.com/office/powerpoint/2010/main" val="5050167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System Architecture for Social Media Health Monitoring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498D2-3BFA-46B7-8F41-521F8B0B2F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91" y="1695842"/>
            <a:ext cx="7010400" cy="34663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FA0AB0-3C9B-4EE5-A5FF-8743ADBA6D1D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Stacked Ensemble Layer</a:t>
            </a:r>
          </a:p>
        </p:txBody>
      </p:sp>
    </p:spTree>
    <p:extLst>
      <p:ext uri="{BB962C8B-B14F-4D97-AF65-F5344CB8AC3E}">
        <p14:creationId xmlns:p14="http://schemas.microsoft.com/office/powerpoint/2010/main" val="25422685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System Architecture for Social Media Health Monitoring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51B94-4E10-459B-B74C-C20B9365B4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31" y="2655287"/>
            <a:ext cx="8211029" cy="15474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6EA09B-C7C9-40C1-816F-DDD9FE206F52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Database Layer</a:t>
            </a:r>
          </a:p>
        </p:txBody>
      </p:sp>
    </p:spTree>
    <p:extLst>
      <p:ext uri="{BB962C8B-B14F-4D97-AF65-F5344CB8AC3E}">
        <p14:creationId xmlns:p14="http://schemas.microsoft.com/office/powerpoint/2010/main" val="6537893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349624"/>
            <a:ext cx="6019802" cy="457200"/>
          </a:xfrm>
        </p:spPr>
        <p:txBody>
          <a:bodyPr>
            <a:noAutofit/>
          </a:bodyPr>
          <a:lstStyle/>
          <a:p>
            <a:r>
              <a:rPr lang="en-US" sz="3200" dirty="0"/>
              <a:t>System Architecture for Social Media Health Monitoring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FBE39-B33D-40B5-B533-759D7040C4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26" y="2286000"/>
            <a:ext cx="8153400" cy="17393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190664-8BDA-427C-8BB3-0935E3F4559C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Output &amp; Response Layer</a:t>
            </a:r>
          </a:p>
        </p:txBody>
      </p:sp>
    </p:spTree>
    <p:extLst>
      <p:ext uri="{BB962C8B-B14F-4D97-AF65-F5344CB8AC3E}">
        <p14:creationId xmlns:p14="http://schemas.microsoft.com/office/powerpoint/2010/main" val="20768716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D17DC634-FA5B-433B-9756-6A0FC7DF17BD}"/>
              </a:ext>
            </a:extLst>
          </p:cNvPr>
          <p:cNvSpPr txBox="1">
            <a:spLocks/>
          </p:cNvSpPr>
          <p:nvPr/>
        </p:nvSpPr>
        <p:spPr>
          <a:xfrm>
            <a:off x="1752600" y="2933700"/>
            <a:ext cx="5638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Dual Modality Depression Screening</a:t>
            </a:r>
            <a:endParaRPr lang="en-US" sz="2800" dirty="0">
              <a:latin typeface="Forte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727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8" y="349624"/>
            <a:ext cx="6286501" cy="457200"/>
          </a:xfrm>
        </p:spPr>
        <p:txBody>
          <a:bodyPr>
            <a:noAutofit/>
          </a:bodyPr>
          <a:lstStyle/>
          <a:p>
            <a:r>
              <a:rPr lang="en-US" sz="3200" dirty="0"/>
              <a:t>Dual Modality Depression Screening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6012E3-4CED-4673-B7BB-412A16E5BF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86" y="1371600"/>
            <a:ext cx="8177720" cy="3962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F003E1-CA19-4DB8-AC5F-CADAC0946249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</a:t>
            </a:r>
            <a:r>
              <a:rPr lang="it-IT" sz="2000" dirty="0"/>
              <a:t>Passive Monitoring (Bengali Social Media NLP Pipeline)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845955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8" y="349624"/>
            <a:ext cx="6286501" cy="457200"/>
          </a:xfrm>
        </p:spPr>
        <p:txBody>
          <a:bodyPr>
            <a:noAutofit/>
          </a:bodyPr>
          <a:lstStyle/>
          <a:p>
            <a:r>
              <a:rPr lang="en-US" sz="3200" dirty="0"/>
              <a:t>Dual Modality Depression Screening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B3ADF7-161B-4D8A-A7A4-9996CD5786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617" y="1106197"/>
            <a:ext cx="4439785" cy="45326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32FE2D-C8DE-47E0-86B6-F532E3F3EA93}"/>
              </a:ext>
            </a:extLst>
          </p:cNvPr>
          <p:cNvSpPr txBox="1"/>
          <p:nvPr/>
        </p:nvSpPr>
        <p:spPr>
          <a:xfrm>
            <a:off x="876300" y="58674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Active Clinical Assessment (PHQ-9 ML Pipeline)</a:t>
            </a:r>
          </a:p>
        </p:txBody>
      </p:sp>
    </p:spTree>
    <p:extLst>
      <p:ext uri="{BB962C8B-B14F-4D97-AF65-F5344CB8AC3E}">
        <p14:creationId xmlns:p14="http://schemas.microsoft.com/office/powerpoint/2010/main" val="36196879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8" y="349624"/>
            <a:ext cx="6286501" cy="457200"/>
          </a:xfrm>
        </p:spPr>
        <p:txBody>
          <a:bodyPr>
            <a:noAutofit/>
          </a:bodyPr>
          <a:lstStyle/>
          <a:p>
            <a:r>
              <a:rPr lang="en-US" sz="3200" dirty="0"/>
              <a:t>Dual Modality Depression Screening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0B958-08ED-4B8B-B1A0-CABBC767E5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98" y="1143000"/>
            <a:ext cx="6683051" cy="457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D7EB22-A8BD-4865-A41D-07E52EFD9C21}"/>
              </a:ext>
            </a:extLst>
          </p:cNvPr>
          <p:cNvSpPr txBox="1"/>
          <p:nvPr/>
        </p:nvSpPr>
        <p:spPr>
          <a:xfrm>
            <a:off x="853750" y="5851121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Explainable AI Layer</a:t>
            </a:r>
          </a:p>
        </p:txBody>
      </p:sp>
    </p:spTree>
    <p:extLst>
      <p:ext uri="{BB962C8B-B14F-4D97-AF65-F5344CB8AC3E}">
        <p14:creationId xmlns:p14="http://schemas.microsoft.com/office/powerpoint/2010/main" val="39138909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8" y="349624"/>
            <a:ext cx="6286501" cy="457200"/>
          </a:xfrm>
        </p:spPr>
        <p:txBody>
          <a:bodyPr>
            <a:noAutofit/>
          </a:bodyPr>
          <a:lstStyle/>
          <a:p>
            <a:r>
              <a:rPr lang="en-US" sz="3200" dirty="0"/>
              <a:t>Dual Modality Depression Screening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00B9C4-E14C-4019-8DD0-792B0CE6A8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378052"/>
            <a:ext cx="4645069" cy="41018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89DB12-5499-419A-ADAA-4E162C0C262F}"/>
              </a:ext>
            </a:extLst>
          </p:cNvPr>
          <p:cNvSpPr txBox="1"/>
          <p:nvPr/>
        </p:nvSpPr>
        <p:spPr>
          <a:xfrm>
            <a:off x="876300" y="5851121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Decision Integration Engine</a:t>
            </a:r>
          </a:p>
        </p:txBody>
      </p:sp>
    </p:spTree>
    <p:extLst>
      <p:ext uri="{BB962C8B-B14F-4D97-AF65-F5344CB8AC3E}">
        <p14:creationId xmlns:p14="http://schemas.microsoft.com/office/powerpoint/2010/main" val="11064476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8" y="349624"/>
            <a:ext cx="6286501" cy="457200"/>
          </a:xfrm>
        </p:spPr>
        <p:txBody>
          <a:bodyPr>
            <a:noAutofit/>
          </a:bodyPr>
          <a:lstStyle/>
          <a:p>
            <a:r>
              <a:rPr lang="en-US" sz="3200" dirty="0"/>
              <a:t>Dual Modality Depression Screening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798C6-C305-413D-AB45-F39771C8F2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27" y="1598957"/>
            <a:ext cx="6486814" cy="33540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4CBE4-C023-4EA1-AD2A-218827D09AAD}"/>
              </a:ext>
            </a:extLst>
          </p:cNvPr>
          <p:cNvSpPr txBox="1"/>
          <p:nvPr/>
        </p:nvSpPr>
        <p:spPr>
          <a:xfrm>
            <a:off x="876300" y="5562600"/>
            <a:ext cx="739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Clinical Workflow Management</a:t>
            </a:r>
          </a:p>
        </p:txBody>
      </p:sp>
    </p:spTree>
    <p:extLst>
      <p:ext uri="{BB962C8B-B14F-4D97-AF65-F5344CB8AC3E}">
        <p14:creationId xmlns:p14="http://schemas.microsoft.com/office/powerpoint/2010/main" val="35304122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8" y="349624"/>
            <a:ext cx="6286501" cy="457200"/>
          </a:xfrm>
        </p:spPr>
        <p:txBody>
          <a:bodyPr>
            <a:noAutofit/>
          </a:bodyPr>
          <a:lstStyle/>
          <a:p>
            <a:r>
              <a:rPr lang="en-US" sz="3200" dirty="0"/>
              <a:t>Dual Modality Depression Screening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23959-0E4F-43DD-A2E8-33995A4C0A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348" y="1052763"/>
            <a:ext cx="2348281" cy="4752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C87FCB-64C5-400B-83DB-942DAD26855E}"/>
              </a:ext>
            </a:extLst>
          </p:cNvPr>
          <p:cNvSpPr txBox="1"/>
          <p:nvPr/>
        </p:nvSpPr>
        <p:spPr>
          <a:xfrm>
            <a:off x="2076448" y="5943600"/>
            <a:ext cx="4381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Continuous Monitoring Loop</a:t>
            </a:r>
          </a:p>
        </p:txBody>
      </p:sp>
    </p:spTree>
    <p:extLst>
      <p:ext uri="{BB962C8B-B14F-4D97-AF65-F5344CB8AC3E}">
        <p14:creationId xmlns:p14="http://schemas.microsoft.com/office/powerpoint/2010/main" val="41619711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5EC8-6426-9FF0-2E68-D28244B5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9087-94BB-774B-15D4-20FD5F57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8" y="349624"/>
            <a:ext cx="6286501" cy="457200"/>
          </a:xfrm>
        </p:spPr>
        <p:txBody>
          <a:bodyPr>
            <a:noAutofit/>
          </a:bodyPr>
          <a:lstStyle/>
          <a:p>
            <a:r>
              <a:rPr lang="en-US" sz="3200" dirty="0"/>
              <a:t>Dual Modality Depression Screening</a:t>
            </a:r>
            <a:endParaRPr lang="en-US" sz="3200" dirty="0">
              <a:latin typeface="Forte" pitchFamily="66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9D6270-439C-2FC9-8D61-C0771040DF5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CA71826-91B8-8267-A2DE-7CC8C85D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3D8C00-C7BD-C2C5-30E0-48C216529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3F82C-B500-4247-E910-2EB6EE099284}"/>
              </a:ext>
            </a:extLst>
          </p:cNvPr>
          <p:cNvSpPr txBox="1">
            <a:spLocks/>
          </p:cNvSpPr>
          <p:nvPr/>
        </p:nvSpPr>
        <p:spPr>
          <a:xfrm>
            <a:off x="-1" y="6629400"/>
            <a:ext cx="853439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B66ED5-EBA0-4DA9-B070-DF21D7A49E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8" y="1687950"/>
            <a:ext cx="7315200" cy="20301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7DAAA4-6BDB-4C7B-A553-EFF21DF8D623}"/>
              </a:ext>
            </a:extLst>
          </p:cNvPr>
          <p:cNvSpPr txBox="1"/>
          <p:nvPr/>
        </p:nvSpPr>
        <p:spPr>
          <a:xfrm>
            <a:off x="2438398" y="4973700"/>
            <a:ext cx="4533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Fig: Clinical Outcomes Layer</a:t>
            </a:r>
          </a:p>
        </p:txBody>
      </p:sp>
    </p:spTree>
    <p:extLst>
      <p:ext uri="{BB962C8B-B14F-4D97-AF65-F5344CB8AC3E}">
        <p14:creationId xmlns:p14="http://schemas.microsoft.com/office/powerpoint/2010/main" val="224485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2169</TotalTime>
  <Words>4863</Words>
  <Application>Microsoft Office PowerPoint</Application>
  <PresentationFormat>On-screen Show (4:3)</PresentationFormat>
  <Paragraphs>656</Paragraphs>
  <Slides>89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9" baseType="lpstr">
      <vt:lpstr>Arial</vt:lpstr>
      <vt:lpstr>Arial Narrow</vt:lpstr>
      <vt:lpstr>Calibri</vt:lpstr>
      <vt:lpstr>Courier New</vt:lpstr>
      <vt:lpstr>Forte</vt:lpstr>
      <vt:lpstr>Rage Italic</vt:lpstr>
      <vt:lpstr>Rockwell</vt:lpstr>
      <vt:lpstr>Symbol</vt:lpstr>
      <vt:lpstr>Times New Roman</vt:lpstr>
      <vt:lpstr>Office Theme</vt:lpstr>
      <vt:lpstr> Prepared for:  Thesis Defense Committee   Department of  Computer Science and Engineering </vt:lpstr>
      <vt:lpstr>Contents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Methodology</vt:lpstr>
      <vt:lpstr>Methodology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Result and Discussion</vt:lpstr>
      <vt:lpstr>Limitations</vt:lpstr>
      <vt:lpstr>Conclusion</vt:lpstr>
      <vt:lpstr>References</vt:lpstr>
      <vt:lpstr>Any Questions ?</vt:lpstr>
      <vt:lpstr>Thank You</vt:lpstr>
      <vt:lpstr>PowerPoint Presentation</vt:lpstr>
      <vt:lpstr>PHQ-9 Methodology (Traditional ML) Pipeline</vt:lpstr>
      <vt:lpstr>PHQ-9 Methodology (Traditional ML) Pipeline</vt:lpstr>
      <vt:lpstr>PHQ-9 Methodology (Traditional ML) Pipeline</vt:lpstr>
      <vt:lpstr>PHQ-9 Methodology (Traditional ML) Pipeline</vt:lpstr>
      <vt:lpstr>PHQ-9 Methodology (Traditional ML) Pipeline</vt:lpstr>
      <vt:lpstr>PHQ-9 Methodology (Traditional ML) Pipeline</vt:lpstr>
      <vt:lpstr>PHQ-9 Methodology (Traditional ML) Pipeline</vt:lpstr>
      <vt:lpstr>PHQ-9 Methodology (Traditional ML) Pipeline</vt:lpstr>
      <vt:lpstr>PHQ-9 Methodology (Traditional ML) Pipeline</vt:lpstr>
      <vt:lpstr>PHQ-9 Methodology (Traditional ML) Pipeline</vt:lpstr>
      <vt:lpstr>PowerPoint Presentation</vt:lpstr>
      <vt:lpstr>PHQ-9 Methodology (NLP) Pipeline</vt:lpstr>
      <vt:lpstr>PHQ-9 Methodology (NLP) Pipeline</vt:lpstr>
      <vt:lpstr>PHQ-9 Methodology (NLP) Pipeline</vt:lpstr>
      <vt:lpstr>PHQ-9 Methodology (NLP) Pipeline</vt:lpstr>
      <vt:lpstr>PHQ-9 Methodology (NLP) Pipeline</vt:lpstr>
      <vt:lpstr>PHQ-9 Methodology (NLP) Pipeline</vt:lpstr>
      <vt:lpstr>PHQ-9 Methodology (NLP) Pipeline</vt:lpstr>
      <vt:lpstr>PHQ-9 Methodology (NLP) Pipeline</vt:lpstr>
      <vt:lpstr>PowerPoint Presentation</vt:lpstr>
      <vt:lpstr>Clinical Decision System Support Workflow for Model Integration</vt:lpstr>
      <vt:lpstr>Clinical Decision System Support Workflow for Model Integration</vt:lpstr>
      <vt:lpstr>Clinical Decision System Support Workflow for Model Integration</vt:lpstr>
      <vt:lpstr>Clinical Decision System Support Workflow for Model Integration</vt:lpstr>
      <vt:lpstr>Clinical Decision System Support Workflow for Model Integration</vt:lpstr>
      <vt:lpstr>Clinical Decision System Support Workflow for Model Integration</vt:lpstr>
      <vt:lpstr>Clinical Decision System Support Workflow for Model Integration</vt:lpstr>
      <vt:lpstr>Clinical Decision System Support Workflow for Model Integration</vt:lpstr>
      <vt:lpstr>PowerPoint Presentation</vt:lpstr>
      <vt:lpstr>System Architecture for Social Media Health Monitoring</vt:lpstr>
      <vt:lpstr>System Architecture for Social Media Health Monitoring</vt:lpstr>
      <vt:lpstr>System Architecture for Social Media Health Monitoring</vt:lpstr>
      <vt:lpstr>System Architecture for Social Media Health Monitoring</vt:lpstr>
      <vt:lpstr>System Architecture for Social Media Health Monitoring</vt:lpstr>
      <vt:lpstr>System Architecture for Social Media Health Monitoring</vt:lpstr>
      <vt:lpstr>System Architecture for Social Media Health Monitoring</vt:lpstr>
      <vt:lpstr>System Architecture for Social Media Health Monitoring</vt:lpstr>
      <vt:lpstr>PowerPoint Presentation</vt:lpstr>
      <vt:lpstr>Dual Modality Depression Screening</vt:lpstr>
      <vt:lpstr>Dual Modality Depression Screening</vt:lpstr>
      <vt:lpstr>Dual Modality Depression Screening</vt:lpstr>
      <vt:lpstr>Dual Modality Depression Screening</vt:lpstr>
      <vt:lpstr>Dual Modality Depression Screening</vt:lpstr>
      <vt:lpstr>Dual Modality Depression Screening</vt:lpstr>
      <vt:lpstr>Dual Modality Depression Screening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Abdullah Miraz</cp:lastModifiedBy>
  <cp:revision>205</cp:revision>
  <dcterms:created xsi:type="dcterms:W3CDTF">2021-05-07T10:10:49Z</dcterms:created>
  <dcterms:modified xsi:type="dcterms:W3CDTF">2026-02-17T11:38:57Z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2026-02-16T11:20:41Z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8b815924-aee4-4121-a24c-ea50d7e938c9</vt:lpwstr>
  </property>
  <property fmtid="{D5CDD505-2E9C-101B-9397-08002B2CF9AE}" pid="7" name="MSIP_Label_defa4170-0d19-0005-0004-bc88714345d2_ActionId">
    <vt:lpwstr>3febe1f3-9384-4820-83d8-a7b3dc74bc63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